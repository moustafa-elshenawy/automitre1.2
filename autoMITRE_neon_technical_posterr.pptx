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143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936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3" name="Shape 1"/>
          <p:cNvSpPr/>
          <p:nvPr/>
        </p:nvSpPr>
        <p:spPr>
          <a:xfrm>
            <a:off x="8427937" y="4839909"/>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4" name="Shape 2"/>
          <p:cNvSpPr/>
          <p:nvPr/>
        </p:nvSpPr>
        <p:spPr>
          <a:xfrm>
            <a:off x="523203" y="1028276"/>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5" name="Shape 3"/>
          <p:cNvSpPr/>
          <p:nvPr/>
        </p:nvSpPr>
        <p:spPr>
          <a:xfrm>
            <a:off x="5104387" y="4106288"/>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6" name="Shape 4"/>
          <p:cNvSpPr/>
          <p:nvPr/>
        </p:nvSpPr>
        <p:spPr>
          <a:xfrm>
            <a:off x="3417421" y="2301373"/>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7" name="Shape 5"/>
          <p:cNvSpPr/>
          <p:nvPr/>
        </p:nvSpPr>
        <p:spPr>
          <a:xfrm>
            <a:off x="4146617" y="2456333"/>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8" name="Shape 6"/>
          <p:cNvSpPr/>
          <p:nvPr/>
        </p:nvSpPr>
        <p:spPr>
          <a:xfrm>
            <a:off x="5724937" y="481131"/>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9" name="Shape 7"/>
          <p:cNvSpPr/>
          <p:nvPr/>
        </p:nvSpPr>
        <p:spPr>
          <a:xfrm>
            <a:off x="1514065" y="3436415"/>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10" name="Shape 8"/>
          <p:cNvSpPr/>
          <p:nvPr/>
        </p:nvSpPr>
        <p:spPr>
          <a:xfrm>
            <a:off x="6134609" y="3252527"/>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11" name="Shape 9"/>
          <p:cNvSpPr/>
          <p:nvPr/>
        </p:nvSpPr>
        <p:spPr>
          <a:xfrm>
            <a:off x="4209673" y="550672"/>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12" name="Shape 10"/>
          <p:cNvSpPr/>
          <p:nvPr/>
        </p:nvSpPr>
        <p:spPr>
          <a:xfrm>
            <a:off x="260491" y="4934480"/>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13" name="Shape 11"/>
          <p:cNvSpPr/>
          <p:nvPr/>
        </p:nvSpPr>
        <p:spPr>
          <a:xfrm>
            <a:off x="1635043" y="1615443"/>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14" name="Shape 12"/>
          <p:cNvSpPr/>
          <p:nvPr/>
        </p:nvSpPr>
        <p:spPr>
          <a:xfrm>
            <a:off x="7506824" y="3506623"/>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15" name="Shape 13"/>
          <p:cNvSpPr/>
          <p:nvPr/>
        </p:nvSpPr>
        <p:spPr>
          <a:xfrm>
            <a:off x="44149" y="5088815"/>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16" name="Shape 14"/>
          <p:cNvSpPr/>
          <p:nvPr/>
        </p:nvSpPr>
        <p:spPr>
          <a:xfrm>
            <a:off x="1682266" y="6531636"/>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17" name="Shape 15"/>
          <p:cNvSpPr/>
          <p:nvPr/>
        </p:nvSpPr>
        <p:spPr>
          <a:xfrm>
            <a:off x="4039969" y="5944514"/>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18" name="Shape 16"/>
          <p:cNvSpPr/>
          <p:nvPr/>
        </p:nvSpPr>
        <p:spPr>
          <a:xfrm>
            <a:off x="8475380" y="4669478"/>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20" name="Shape 18"/>
          <p:cNvSpPr/>
          <p:nvPr/>
        </p:nvSpPr>
        <p:spPr>
          <a:xfrm>
            <a:off x="5890439" y="4092698"/>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21" name="Shape 19"/>
          <p:cNvSpPr/>
          <p:nvPr/>
        </p:nvSpPr>
        <p:spPr>
          <a:xfrm>
            <a:off x="2950253" y="5212383"/>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22" name="Shape 20"/>
          <p:cNvSpPr/>
          <p:nvPr/>
        </p:nvSpPr>
        <p:spPr>
          <a:xfrm>
            <a:off x="6952890" y="3824900"/>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23" name="Shape 21"/>
          <p:cNvSpPr/>
          <p:nvPr/>
        </p:nvSpPr>
        <p:spPr>
          <a:xfrm>
            <a:off x="5084344" y="2587374"/>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24" name="Shape 22"/>
          <p:cNvSpPr/>
          <p:nvPr/>
        </p:nvSpPr>
        <p:spPr>
          <a:xfrm>
            <a:off x="6043054" y="4474369"/>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25" name="Shape 23"/>
          <p:cNvSpPr/>
          <p:nvPr/>
        </p:nvSpPr>
        <p:spPr>
          <a:xfrm>
            <a:off x="5309571" y="199123"/>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26" name="Shape 24"/>
          <p:cNvSpPr/>
          <p:nvPr/>
        </p:nvSpPr>
        <p:spPr>
          <a:xfrm>
            <a:off x="7902575" y="5030888"/>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27" name="Shape 25"/>
          <p:cNvSpPr/>
          <p:nvPr/>
        </p:nvSpPr>
        <p:spPr>
          <a:xfrm>
            <a:off x="6122185" y="1662448"/>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28" name="Shape 26"/>
          <p:cNvSpPr/>
          <p:nvPr/>
        </p:nvSpPr>
        <p:spPr>
          <a:xfrm>
            <a:off x="4614758" y="261049"/>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29" name="Shape 27"/>
          <p:cNvSpPr/>
          <p:nvPr/>
        </p:nvSpPr>
        <p:spPr>
          <a:xfrm>
            <a:off x="9141096" y="3374255"/>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30" name="Shape 28"/>
          <p:cNvSpPr/>
          <p:nvPr/>
        </p:nvSpPr>
        <p:spPr>
          <a:xfrm>
            <a:off x="7663534" y="5879923"/>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31" name="Shape 29"/>
          <p:cNvSpPr/>
          <p:nvPr/>
        </p:nvSpPr>
        <p:spPr>
          <a:xfrm>
            <a:off x="5301751" y="1912430"/>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32" name="Shape 30"/>
          <p:cNvSpPr/>
          <p:nvPr/>
        </p:nvSpPr>
        <p:spPr>
          <a:xfrm>
            <a:off x="9007590" y="4523621"/>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33" name="Shape 31"/>
          <p:cNvSpPr/>
          <p:nvPr/>
        </p:nvSpPr>
        <p:spPr>
          <a:xfrm>
            <a:off x="6614844" y="6318557"/>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34" name="Shape 32"/>
          <p:cNvSpPr/>
          <p:nvPr/>
        </p:nvSpPr>
        <p:spPr>
          <a:xfrm>
            <a:off x="2612455" y="5841121"/>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35" name="Shape 33"/>
          <p:cNvSpPr/>
          <p:nvPr/>
        </p:nvSpPr>
        <p:spPr>
          <a:xfrm>
            <a:off x="3822590" y="5669064"/>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36" name="Shape 34"/>
          <p:cNvSpPr/>
          <p:nvPr/>
        </p:nvSpPr>
        <p:spPr>
          <a:xfrm>
            <a:off x="1834267" y="5622629"/>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37" name="Shape 35"/>
          <p:cNvSpPr/>
          <p:nvPr/>
        </p:nvSpPr>
        <p:spPr>
          <a:xfrm>
            <a:off x="5266219" y="1370028"/>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38" name="Shape 36"/>
          <p:cNvSpPr/>
          <p:nvPr/>
        </p:nvSpPr>
        <p:spPr>
          <a:xfrm>
            <a:off x="8975024" y="2494295"/>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39" name="Shape 37"/>
          <p:cNvSpPr/>
          <p:nvPr/>
        </p:nvSpPr>
        <p:spPr>
          <a:xfrm>
            <a:off x="8417679" y="5968621"/>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40" name="Shape 38"/>
          <p:cNvSpPr/>
          <p:nvPr/>
        </p:nvSpPr>
        <p:spPr>
          <a:xfrm>
            <a:off x="4843791" y="5782425"/>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41" name="Shape 39"/>
          <p:cNvSpPr/>
          <p:nvPr/>
        </p:nvSpPr>
        <p:spPr>
          <a:xfrm>
            <a:off x="2119532" y="2248009"/>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42" name="Shape 40"/>
          <p:cNvSpPr/>
          <p:nvPr/>
        </p:nvSpPr>
        <p:spPr>
          <a:xfrm>
            <a:off x="3688195" y="1526861"/>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43" name="Shape 41"/>
          <p:cNvSpPr/>
          <p:nvPr/>
        </p:nvSpPr>
        <p:spPr>
          <a:xfrm>
            <a:off x="601089" y="4905543"/>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44" name="Shape 42"/>
          <p:cNvSpPr/>
          <p:nvPr/>
        </p:nvSpPr>
        <p:spPr>
          <a:xfrm>
            <a:off x="5001017" y="3765158"/>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45" name="Shape 43"/>
          <p:cNvSpPr/>
          <p:nvPr/>
        </p:nvSpPr>
        <p:spPr>
          <a:xfrm>
            <a:off x="7174098" y="5158770"/>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46" name="Shape 44"/>
          <p:cNvSpPr/>
          <p:nvPr/>
        </p:nvSpPr>
        <p:spPr>
          <a:xfrm>
            <a:off x="2791527" y="4583765"/>
            <a:ext cx="22860" cy="22860"/>
          </a:xfrm>
          <a:prstGeom prst="ellipse">
            <a:avLst/>
          </a:prstGeom>
          <a:solidFill>
            <a:srgbClr val="00FF57">
              <a:alpha val="65000"/>
            </a:srgbClr>
          </a:solidFill>
          <a:ln w="12700">
            <a:solidFill>
              <a:srgbClr val="00FF57">
                <a:alpha val="0"/>
              </a:srgbClr>
            </a:solidFill>
            <a:prstDash val="solid"/>
          </a:ln>
        </p:spPr>
        <p:txBody>
          <a:bodyPr/>
          <a:lstStyle/>
          <a:p>
            <a:endParaRPr lang="en-US"/>
          </a:p>
        </p:txBody>
      </p:sp>
      <p:sp>
        <p:nvSpPr>
          <p:cNvPr id="47" name="Shape 45"/>
          <p:cNvSpPr/>
          <p:nvPr/>
        </p:nvSpPr>
        <p:spPr>
          <a:xfrm>
            <a:off x="274320" y="182880"/>
            <a:ext cx="640080" cy="274320"/>
          </a:xfrm>
          <a:prstGeom prst="line">
            <a:avLst/>
          </a:prstGeom>
          <a:noFill/>
          <a:ln w="7620">
            <a:solidFill>
              <a:srgbClr val="009E39">
                <a:alpha val="35000"/>
              </a:srgbClr>
            </a:solidFill>
            <a:prstDash val="solid"/>
          </a:ln>
        </p:spPr>
        <p:txBody>
          <a:bodyPr/>
          <a:lstStyle/>
          <a:p>
            <a:endParaRPr lang="en-US"/>
          </a:p>
        </p:txBody>
      </p:sp>
      <p:sp>
        <p:nvSpPr>
          <p:cNvPr id="48" name="Shape 46"/>
          <p:cNvSpPr/>
          <p:nvPr/>
        </p:nvSpPr>
        <p:spPr>
          <a:xfrm>
            <a:off x="1527048" y="941832"/>
            <a:ext cx="640080" cy="274320"/>
          </a:xfrm>
          <a:prstGeom prst="line">
            <a:avLst/>
          </a:prstGeom>
          <a:noFill/>
          <a:ln w="7620">
            <a:solidFill>
              <a:srgbClr val="009E39">
                <a:alpha val="35000"/>
              </a:srgbClr>
            </a:solidFill>
            <a:prstDash val="solid"/>
          </a:ln>
        </p:spPr>
        <p:txBody>
          <a:bodyPr/>
          <a:lstStyle/>
          <a:p>
            <a:endParaRPr lang="en-US"/>
          </a:p>
        </p:txBody>
      </p:sp>
      <p:sp>
        <p:nvSpPr>
          <p:cNvPr id="49" name="Shape 47"/>
          <p:cNvSpPr/>
          <p:nvPr/>
        </p:nvSpPr>
        <p:spPr>
          <a:xfrm>
            <a:off x="2779776" y="1700784"/>
            <a:ext cx="640080" cy="274320"/>
          </a:xfrm>
          <a:prstGeom prst="line">
            <a:avLst/>
          </a:prstGeom>
          <a:noFill/>
          <a:ln w="7620">
            <a:solidFill>
              <a:srgbClr val="009E39">
                <a:alpha val="35000"/>
              </a:srgbClr>
            </a:solidFill>
            <a:prstDash val="solid"/>
          </a:ln>
        </p:spPr>
        <p:txBody>
          <a:bodyPr/>
          <a:lstStyle/>
          <a:p>
            <a:endParaRPr lang="en-US"/>
          </a:p>
        </p:txBody>
      </p:sp>
      <p:sp>
        <p:nvSpPr>
          <p:cNvPr id="50" name="Shape 48"/>
          <p:cNvSpPr/>
          <p:nvPr/>
        </p:nvSpPr>
        <p:spPr>
          <a:xfrm>
            <a:off x="4032504" y="2459736"/>
            <a:ext cx="640080" cy="274320"/>
          </a:xfrm>
          <a:prstGeom prst="line">
            <a:avLst/>
          </a:prstGeom>
          <a:noFill/>
          <a:ln w="7620">
            <a:solidFill>
              <a:srgbClr val="009E39">
                <a:alpha val="35000"/>
              </a:srgbClr>
            </a:solidFill>
            <a:prstDash val="solid"/>
          </a:ln>
        </p:spPr>
        <p:txBody>
          <a:bodyPr/>
          <a:lstStyle/>
          <a:p>
            <a:endParaRPr lang="en-US"/>
          </a:p>
        </p:txBody>
      </p:sp>
      <p:sp>
        <p:nvSpPr>
          <p:cNvPr id="51" name="Shape 49"/>
          <p:cNvSpPr/>
          <p:nvPr/>
        </p:nvSpPr>
        <p:spPr>
          <a:xfrm>
            <a:off x="5285232" y="3218688"/>
            <a:ext cx="640080" cy="274320"/>
          </a:xfrm>
          <a:prstGeom prst="line">
            <a:avLst/>
          </a:prstGeom>
          <a:noFill/>
          <a:ln w="7620">
            <a:solidFill>
              <a:srgbClr val="009E39">
                <a:alpha val="35000"/>
              </a:srgbClr>
            </a:solidFill>
            <a:prstDash val="solid"/>
          </a:ln>
        </p:spPr>
        <p:txBody>
          <a:bodyPr/>
          <a:lstStyle/>
          <a:p>
            <a:endParaRPr lang="en-US"/>
          </a:p>
        </p:txBody>
      </p:sp>
      <p:sp>
        <p:nvSpPr>
          <p:cNvPr id="52" name="Shape 50"/>
          <p:cNvSpPr/>
          <p:nvPr/>
        </p:nvSpPr>
        <p:spPr>
          <a:xfrm>
            <a:off x="6537960" y="3977640"/>
            <a:ext cx="640080" cy="274320"/>
          </a:xfrm>
          <a:prstGeom prst="line">
            <a:avLst/>
          </a:prstGeom>
          <a:noFill/>
          <a:ln w="7620">
            <a:solidFill>
              <a:srgbClr val="009E39">
                <a:alpha val="35000"/>
              </a:srgbClr>
            </a:solidFill>
            <a:prstDash val="solid"/>
          </a:ln>
        </p:spPr>
        <p:txBody>
          <a:bodyPr/>
          <a:lstStyle/>
          <a:p>
            <a:endParaRPr lang="en-US"/>
          </a:p>
        </p:txBody>
      </p:sp>
      <p:sp>
        <p:nvSpPr>
          <p:cNvPr id="53" name="Shape 51"/>
          <p:cNvSpPr/>
          <p:nvPr/>
        </p:nvSpPr>
        <p:spPr>
          <a:xfrm>
            <a:off x="7790688" y="4736592"/>
            <a:ext cx="640080" cy="274320"/>
          </a:xfrm>
          <a:prstGeom prst="line">
            <a:avLst/>
          </a:prstGeom>
          <a:noFill/>
          <a:ln w="7620">
            <a:solidFill>
              <a:srgbClr val="009E39">
                <a:alpha val="35000"/>
              </a:srgbClr>
            </a:solidFill>
            <a:prstDash val="solid"/>
          </a:ln>
        </p:spPr>
        <p:txBody>
          <a:bodyPr/>
          <a:lstStyle/>
          <a:p>
            <a:endParaRPr lang="en-US"/>
          </a:p>
        </p:txBody>
      </p:sp>
      <p:sp>
        <p:nvSpPr>
          <p:cNvPr id="54" name="Shape 52"/>
          <p:cNvSpPr/>
          <p:nvPr/>
        </p:nvSpPr>
        <p:spPr>
          <a:xfrm>
            <a:off x="813816" y="5495544"/>
            <a:ext cx="640080" cy="274320"/>
          </a:xfrm>
          <a:prstGeom prst="line">
            <a:avLst/>
          </a:prstGeom>
          <a:noFill/>
          <a:ln w="7620">
            <a:solidFill>
              <a:srgbClr val="009E39">
                <a:alpha val="35000"/>
              </a:srgbClr>
            </a:solidFill>
            <a:prstDash val="solid"/>
          </a:ln>
        </p:spPr>
        <p:txBody>
          <a:bodyPr/>
          <a:lstStyle/>
          <a:p>
            <a:endParaRPr lang="en-US"/>
          </a:p>
        </p:txBody>
      </p:sp>
      <p:sp>
        <p:nvSpPr>
          <p:cNvPr id="55" name="Shape 53"/>
          <p:cNvSpPr/>
          <p:nvPr/>
        </p:nvSpPr>
        <p:spPr>
          <a:xfrm>
            <a:off x="2066544" y="6254496"/>
            <a:ext cx="640080" cy="274320"/>
          </a:xfrm>
          <a:prstGeom prst="line">
            <a:avLst/>
          </a:prstGeom>
          <a:noFill/>
          <a:ln w="7620">
            <a:solidFill>
              <a:srgbClr val="009E39">
                <a:alpha val="35000"/>
              </a:srgbClr>
            </a:solidFill>
            <a:prstDash val="solid"/>
          </a:ln>
        </p:spPr>
        <p:txBody>
          <a:bodyPr/>
          <a:lstStyle/>
          <a:p>
            <a:endParaRPr lang="en-US"/>
          </a:p>
        </p:txBody>
      </p:sp>
      <p:sp>
        <p:nvSpPr>
          <p:cNvPr id="56" name="Shape 54"/>
          <p:cNvSpPr/>
          <p:nvPr/>
        </p:nvSpPr>
        <p:spPr>
          <a:xfrm>
            <a:off x="3319272" y="612648"/>
            <a:ext cx="640080" cy="274320"/>
          </a:xfrm>
          <a:prstGeom prst="line">
            <a:avLst/>
          </a:prstGeom>
          <a:noFill/>
          <a:ln w="7620">
            <a:solidFill>
              <a:srgbClr val="009E39">
                <a:alpha val="35000"/>
              </a:srgbClr>
            </a:solidFill>
            <a:prstDash val="solid"/>
          </a:ln>
        </p:spPr>
        <p:txBody>
          <a:bodyPr/>
          <a:lstStyle/>
          <a:p>
            <a:endParaRPr lang="en-US"/>
          </a:p>
        </p:txBody>
      </p:sp>
      <p:sp>
        <p:nvSpPr>
          <p:cNvPr id="57" name="Shape 55"/>
          <p:cNvSpPr/>
          <p:nvPr/>
        </p:nvSpPr>
        <p:spPr>
          <a:xfrm>
            <a:off x="4572000" y="1371600"/>
            <a:ext cx="640080" cy="274320"/>
          </a:xfrm>
          <a:prstGeom prst="line">
            <a:avLst/>
          </a:prstGeom>
          <a:noFill/>
          <a:ln w="7620">
            <a:solidFill>
              <a:srgbClr val="009E39">
                <a:alpha val="35000"/>
              </a:srgbClr>
            </a:solidFill>
            <a:prstDash val="solid"/>
          </a:ln>
        </p:spPr>
        <p:txBody>
          <a:bodyPr/>
          <a:lstStyle/>
          <a:p>
            <a:endParaRPr lang="en-US"/>
          </a:p>
        </p:txBody>
      </p:sp>
      <p:sp>
        <p:nvSpPr>
          <p:cNvPr id="58" name="Shape 56"/>
          <p:cNvSpPr/>
          <p:nvPr/>
        </p:nvSpPr>
        <p:spPr>
          <a:xfrm>
            <a:off x="0" y="0"/>
            <a:ext cx="9144000" cy="658368"/>
          </a:xfrm>
          <a:prstGeom prst="rect">
            <a:avLst/>
          </a:prstGeom>
          <a:solidFill>
            <a:srgbClr val="020302"/>
          </a:solidFill>
          <a:ln w="6350">
            <a:solidFill>
              <a:srgbClr val="173821">
                <a:alpha val="65000"/>
              </a:srgbClr>
            </a:solidFill>
            <a:prstDash val="solid"/>
          </a:ln>
        </p:spPr>
        <p:txBody>
          <a:bodyPr/>
          <a:lstStyle/>
          <a:p>
            <a:endParaRPr lang="en-US"/>
          </a:p>
        </p:txBody>
      </p:sp>
      <p:sp>
        <p:nvSpPr>
          <p:cNvPr id="59" name="Text 57"/>
          <p:cNvSpPr/>
          <p:nvPr/>
        </p:nvSpPr>
        <p:spPr>
          <a:xfrm>
            <a:off x="164592" y="128016"/>
            <a:ext cx="1143000" cy="146304"/>
          </a:xfrm>
          <a:prstGeom prst="rect">
            <a:avLst/>
          </a:prstGeom>
          <a:noFill/>
          <a:ln/>
        </p:spPr>
        <p:txBody>
          <a:bodyPr wrap="square" lIns="381" tIns="381" rIns="381" bIns="381" rtlCol="0" anchor="t">
            <a:noAutofit/>
          </a:bodyPr>
          <a:lstStyle/>
          <a:p>
            <a:pPr marL="0" indent="0" algn="l">
              <a:buNone/>
            </a:pPr>
            <a:r>
              <a:rPr lang="en-US" sz="1600" b="1" dirty="0">
                <a:solidFill>
                  <a:srgbClr val="00FF57"/>
                </a:solidFill>
                <a:latin typeface="Aptos Mono" pitchFamily="34" charset="0"/>
                <a:ea typeface="Aptos Mono" pitchFamily="34" charset="-122"/>
                <a:cs typeface="Aptos Mono" pitchFamily="34" charset="-120"/>
              </a:rPr>
              <a:t>AutoMITRE</a:t>
            </a:r>
            <a:endParaRPr lang="en-US" sz="1600" dirty="0"/>
          </a:p>
        </p:txBody>
      </p:sp>
      <p:sp>
        <p:nvSpPr>
          <p:cNvPr id="60" name="Text 58"/>
          <p:cNvSpPr/>
          <p:nvPr/>
        </p:nvSpPr>
        <p:spPr>
          <a:xfrm>
            <a:off x="7406640" y="128016"/>
            <a:ext cx="1554480" cy="137160"/>
          </a:xfrm>
          <a:prstGeom prst="rect">
            <a:avLst/>
          </a:prstGeom>
          <a:noFill/>
          <a:ln/>
        </p:spPr>
        <p:txBody>
          <a:bodyPr wrap="square" lIns="381" tIns="381" rIns="381" bIns="381" rtlCol="0" anchor="t">
            <a:noAutofit/>
          </a:bodyPr>
          <a:lstStyle/>
          <a:p>
            <a:pPr marL="0" indent="0" algn="r">
              <a:buNone/>
            </a:pPr>
            <a:r>
              <a:rPr lang="en-US" sz="900" b="1" dirty="0">
                <a:solidFill>
                  <a:srgbClr val="9DA7A0"/>
                </a:solidFill>
                <a:latin typeface="Aptos Mono" pitchFamily="34" charset="0"/>
                <a:ea typeface="Aptos Mono" pitchFamily="34" charset="-122"/>
                <a:cs typeface="Aptos Mono" pitchFamily="34" charset="-120"/>
              </a:rPr>
              <a:t>CCIT  SMART VILLAGE</a:t>
            </a:r>
            <a:endParaRPr lang="en-US" sz="900" dirty="0"/>
          </a:p>
        </p:txBody>
      </p:sp>
      <p:sp>
        <p:nvSpPr>
          <p:cNvPr id="61" name="Text 59"/>
          <p:cNvSpPr/>
          <p:nvPr/>
        </p:nvSpPr>
        <p:spPr>
          <a:xfrm>
            <a:off x="182880" y="484632"/>
            <a:ext cx="2560320" cy="109728"/>
          </a:xfrm>
          <a:prstGeom prst="rect">
            <a:avLst/>
          </a:prstGeom>
          <a:noFill/>
          <a:ln/>
        </p:spPr>
        <p:txBody>
          <a:bodyPr wrap="square" lIns="381" tIns="381" rIns="381" bIns="381" rtlCol="0" anchor="t">
            <a:normAutofit/>
          </a:bodyPr>
          <a:lstStyle/>
          <a:p>
            <a:pPr marL="0" indent="0" algn="l">
              <a:buNone/>
            </a:pPr>
            <a:r>
              <a:rPr lang="en-US" sz="500" b="1" dirty="0">
                <a:solidFill>
                  <a:srgbClr val="009E39"/>
                </a:solidFill>
                <a:latin typeface="Aptos Mono" pitchFamily="34" charset="0"/>
                <a:ea typeface="Aptos Mono" pitchFamily="34" charset="-122"/>
                <a:cs typeface="Aptos Mono" pitchFamily="34" charset="-120"/>
              </a:rPr>
              <a:t>&gt; v1.2.0 · AI THREAT INTELLIGENCE PLATFORM</a:t>
            </a:r>
            <a:endParaRPr lang="en-US" sz="500" dirty="0"/>
          </a:p>
        </p:txBody>
      </p:sp>
      <p:sp>
        <p:nvSpPr>
          <p:cNvPr id="62" name="Text 60"/>
          <p:cNvSpPr/>
          <p:nvPr/>
        </p:nvSpPr>
        <p:spPr>
          <a:xfrm>
            <a:off x="183533" y="730936"/>
            <a:ext cx="5760720" cy="384048"/>
          </a:xfrm>
          <a:prstGeom prst="rect">
            <a:avLst/>
          </a:prstGeom>
          <a:noFill/>
          <a:ln/>
        </p:spPr>
        <p:txBody>
          <a:bodyPr wrap="square" lIns="381" tIns="381" rIns="381" bIns="381" rtlCol="0" anchor="t">
            <a:normAutofit fontScale="92500" lnSpcReduction="10000"/>
          </a:bodyPr>
          <a:lstStyle/>
          <a:p>
            <a:pPr marL="0" indent="0" algn="l">
              <a:buNone/>
            </a:pPr>
            <a:r>
              <a:rPr lang="en-US" sz="2900" b="1" dirty="0">
                <a:solidFill>
                  <a:srgbClr val="00FF57"/>
                </a:solidFill>
                <a:latin typeface="Aptos Display" pitchFamily="34" charset="0"/>
                <a:ea typeface="Aptos Display" pitchFamily="34" charset="-122"/>
                <a:cs typeface="Aptos Display" pitchFamily="34" charset="-120"/>
              </a:rPr>
              <a:t>REAL-TIME CYBERSECURITY</a:t>
            </a:r>
            <a:endParaRPr lang="en-US" sz="2900" dirty="0"/>
          </a:p>
        </p:txBody>
      </p:sp>
      <p:sp>
        <p:nvSpPr>
          <p:cNvPr id="63" name="Text 61"/>
          <p:cNvSpPr/>
          <p:nvPr/>
        </p:nvSpPr>
        <p:spPr>
          <a:xfrm>
            <a:off x="201168" y="1143000"/>
            <a:ext cx="3931920" cy="347472"/>
          </a:xfrm>
          <a:prstGeom prst="rect">
            <a:avLst/>
          </a:prstGeom>
          <a:noFill/>
          <a:ln/>
        </p:spPr>
        <p:txBody>
          <a:bodyPr wrap="square" lIns="381" tIns="381" rIns="381" bIns="381" rtlCol="0" anchor="t">
            <a:normAutofit fontScale="92500" lnSpcReduction="10000"/>
          </a:bodyPr>
          <a:lstStyle/>
          <a:p>
            <a:pPr marL="0" indent="0" algn="l">
              <a:buNone/>
            </a:pPr>
            <a:r>
              <a:rPr lang="en-US" sz="2700" b="1" dirty="0">
                <a:solidFill>
                  <a:srgbClr val="00FF57"/>
                </a:solidFill>
                <a:latin typeface="Aptos Display" pitchFamily="34" charset="0"/>
                <a:ea typeface="Aptos Display" pitchFamily="34" charset="-122"/>
                <a:cs typeface="Aptos Display" pitchFamily="34" charset="-120"/>
              </a:rPr>
              <a:t>POWERED BY AI.</a:t>
            </a:r>
            <a:endParaRPr lang="en-US" sz="2700" dirty="0"/>
          </a:p>
        </p:txBody>
      </p:sp>
      <p:sp>
        <p:nvSpPr>
          <p:cNvPr id="64" name="Text 62"/>
          <p:cNvSpPr/>
          <p:nvPr/>
        </p:nvSpPr>
        <p:spPr>
          <a:xfrm>
            <a:off x="4572000" y="779280"/>
            <a:ext cx="4187952" cy="256032"/>
          </a:xfrm>
          <a:prstGeom prst="rect">
            <a:avLst/>
          </a:prstGeom>
          <a:noFill/>
          <a:ln/>
        </p:spPr>
        <p:txBody>
          <a:bodyPr wrap="square" lIns="381" tIns="381" rIns="381" bIns="381" rtlCol="0" anchor="t">
            <a:normAutofit/>
          </a:bodyPr>
          <a:lstStyle/>
          <a:p>
            <a:pPr marL="0" indent="0" algn="r">
              <a:buNone/>
            </a:pPr>
            <a:r>
              <a:rPr lang="en-US" sz="1500" b="1" dirty="0">
                <a:solidFill>
                  <a:srgbClr val="EAF9EE"/>
                </a:solidFill>
                <a:latin typeface="Aptos" pitchFamily="34" charset="0"/>
                <a:ea typeface="Aptos" pitchFamily="34" charset="-122"/>
                <a:cs typeface="Aptos" pitchFamily="34" charset="-120"/>
              </a:rPr>
              <a:t>AI-Driven Cyber Threat Intelligence Platform</a:t>
            </a:r>
            <a:endParaRPr lang="en-US" sz="1500" dirty="0"/>
          </a:p>
        </p:txBody>
      </p:sp>
      <p:sp>
        <p:nvSpPr>
          <p:cNvPr id="65" name="Text 63"/>
          <p:cNvSpPr/>
          <p:nvPr/>
        </p:nvSpPr>
        <p:spPr>
          <a:xfrm>
            <a:off x="4302906" y="1059022"/>
            <a:ext cx="3794760" cy="164592"/>
          </a:xfrm>
          <a:prstGeom prst="rect">
            <a:avLst/>
          </a:prstGeom>
          <a:noFill/>
          <a:ln/>
        </p:spPr>
        <p:txBody>
          <a:bodyPr wrap="square" lIns="381" tIns="381" rIns="381" bIns="381" rtlCol="0" anchor="t">
            <a:normAutofit/>
          </a:bodyPr>
          <a:lstStyle/>
          <a:p>
            <a:pPr marL="0" indent="0" algn="r">
              <a:buNone/>
            </a:pPr>
            <a:r>
              <a:rPr lang="en-US" sz="750" dirty="0">
                <a:solidFill>
                  <a:srgbClr val="9DA7A0"/>
                </a:solidFill>
                <a:latin typeface="Aptos" pitchFamily="34" charset="0"/>
                <a:ea typeface="Aptos" pitchFamily="34" charset="-122"/>
                <a:cs typeface="Aptos" pitchFamily="34" charset="-120"/>
              </a:rPr>
              <a:t>Autonomous Threat Detection and Multi-Framework Mapping</a:t>
            </a:r>
            <a:endParaRPr lang="en-US" sz="750" dirty="0"/>
          </a:p>
        </p:txBody>
      </p:sp>
      <p:sp>
        <p:nvSpPr>
          <p:cNvPr id="66" name="Text 64"/>
          <p:cNvSpPr/>
          <p:nvPr/>
        </p:nvSpPr>
        <p:spPr>
          <a:xfrm>
            <a:off x="4353197" y="1365697"/>
            <a:ext cx="4553712" cy="164592"/>
          </a:xfrm>
          <a:prstGeom prst="rect">
            <a:avLst/>
          </a:prstGeom>
          <a:noFill/>
          <a:ln/>
        </p:spPr>
        <p:txBody>
          <a:bodyPr wrap="square" lIns="381" tIns="381" rIns="381" bIns="381" rtlCol="0" anchor="t">
            <a:noAutofit/>
          </a:bodyPr>
          <a:lstStyle/>
          <a:p>
            <a:pPr marL="0" indent="0" algn="r">
              <a:buNone/>
            </a:pPr>
            <a:r>
              <a:rPr lang="en-US" sz="800" dirty="0">
                <a:solidFill>
                  <a:srgbClr val="C5D0C8"/>
                </a:solidFill>
                <a:latin typeface="Aptos" pitchFamily="34" charset="0"/>
                <a:ea typeface="Aptos" pitchFamily="34" charset="-122"/>
                <a:cs typeface="Aptos" pitchFamily="34" charset="-120"/>
              </a:rPr>
              <a:t>Abdelrhman Zaki · Hashem Abo · Mostafa Elshemay · Mira Amin · Jana Wael · Jomana Mohsen</a:t>
            </a:r>
            <a:endParaRPr lang="en-US" sz="800" dirty="0"/>
          </a:p>
        </p:txBody>
      </p:sp>
      <p:sp>
        <p:nvSpPr>
          <p:cNvPr id="67" name="Text 65"/>
          <p:cNvSpPr/>
          <p:nvPr/>
        </p:nvSpPr>
        <p:spPr>
          <a:xfrm>
            <a:off x="4701413" y="1204020"/>
            <a:ext cx="4280142" cy="134726"/>
          </a:xfrm>
          <a:prstGeom prst="rect">
            <a:avLst/>
          </a:prstGeom>
          <a:noFill/>
          <a:ln/>
        </p:spPr>
        <p:txBody>
          <a:bodyPr wrap="square" lIns="381" tIns="381" rIns="381" bIns="381" rtlCol="0" anchor="t">
            <a:noAutofit/>
          </a:bodyPr>
          <a:lstStyle/>
          <a:p>
            <a:pPr marL="0" indent="0" algn="r">
              <a:buNone/>
            </a:pPr>
            <a:r>
              <a:rPr lang="en-US" sz="800" dirty="0">
                <a:solidFill>
                  <a:srgbClr val="97A19A"/>
                </a:solidFill>
                <a:latin typeface="Aptos" pitchFamily="34" charset="0"/>
                <a:ea typeface="Aptos" pitchFamily="34" charset="-122"/>
                <a:cs typeface="Aptos" pitchFamily="34" charset="-120"/>
              </a:rPr>
              <a:t>Supervisor: Dr. Ahmed Maher — College of Computing &amp; Information Technology, Smart Village</a:t>
            </a:r>
            <a:endParaRPr lang="en-US" sz="800" dirty="0"/>
          </a:p>
        </p:txBody>
      </p:sp>
      <p:sp>
        <p:nvSpPr>
          <p:cNvPr id="68" name="Shape 66"/>
          <p:cNvSpPr/>
          <p:nvPr/>
        </p:nvSpPr>
        <p:spPr>
          <a:xfrm>
            <a:off x="182880" y="1618488"/>
            <a:ext cx="8778240" cy="0"/>
          </a:xfrm>
          <a:prstGeom prst="line">
            <a:avLst/>
          </a:prstGeom>
          <a:noFill/>
          <a:ln w="13970">
            <a:solidFill>
              <a:srgbClr val="00FF57">
                <a:alpha val="85000"/>
              </a:srgbClr>
            </a:solidFill>
            <a:prstDash val="solid"/>
          </a:ln>
        </p:spPr>
        <p:txBody>
          <a:bodyPr/>
          <a:lstStyle/>
          <a:p>
            <a:endParaRPr lang="en-US"/>
          </a:p>
        </p:txBody>
      </p:sp>
      <p:sp>
        <p:nvSpPr>
          <p:cNvPr id="69" name="Shape 67"/>
          <p:cNvSpPr/>
          <p:nvPr/>
        </p:nvSpPr>
        <p:spPr>
          <a:xfrm>
            <a:off x="201168" y="1755648"/>
            <a:ext cx="2880360" cy="932688"/>
          </a:xfrm>
          <a:prstGeom prst="roundRect">
            <a:avLst>
              <a:gd name="adj" fmla="val 5882"/>
            </a:avLst>
          </a:prstGeom>
          <a:solidFill>
            <a:srgbClr val="07120A"/>
          </a:solidFill>
          <a:ln w="9525">
            <a:solidFill>
              <a:srgbClr val="00C447">
                <a:alpha val="90000"/>
              </a:srgbClr>
            </a:solidFill>
            <a:prstDash val="solid"/>
          </a:ln>
        </p:spPr>
        <p:txBody>
          <a:bodyPr/>
          <a:lstStyle/>
          <a:p>
            <a:endParaRPr lang="en-US"/>
          </a:p>
        </p:txBody>
      </p:sp>
      <p:sp>
        <p:nvSpPr>
          <p:cNvPr id="70" name="Shape 68"/>
          <p:cNvSpPr/>
          <p:nvPr/>
        </p:nvSpPr>
        <p:spPr>
          <a:xfrm>
            <a:off x="201168" y="1755648"/>
            <a:ext cx="2880360" cy="201168"/>
          </a:xfrm>
          <a:prstGeom prst="rect">
            <a:avLst/>
          </a:prstGeom>
          <a:solidFill>
            <a:srgbClr val="00FF57">
              <a:alpha val="95000"/>
            </a:srgbClr>
          </a:solidFill>
          <a:ln w="12700">
            <a:solidFill>
              <a:srgbClr val="00FF57"/>
            </a:solidFill>
            <a:prstDash val="solid"/>
          </a:ln>
        </p:spPr>
        <p:txBody>
          <a:bodyPr/>
          <a:lstStyle/>
          <a:p>
            <a:endParaRPr lang="en-US"/>
          </a:p>
        </p:txBody>
      </p:sp>
      <p:sp>
        <p:nvSpPr>
          <p:cNvPr id="71" name="Text 69"/>
          <p:cNvSpPr/>
          <p:nvPr/>
        </p:nvSpPr>
        <p:spPr>
          <a:xfrm>
            <a:off x="274320" y="1787652"/>
            <a:ext cx="2734056" cy="128016"/>
          </a:xfrm>
          <a:prstGeom prst="rect">
            <a:avLst/>
          </a:prstGeom>
          <a:noFill/>
          <a:ln/>
        </p:spPr>
        <p:txBody>
          <a:bodyPr wrap="square" lIns="381" tIns="381" rIns="381" bIns="381" rtlCol="0" anchor="t">
            <a:noAutofit/>
          </a:bodyPr>
          <a:lstStyle/>
          <a:p>
            <a:pPr marL="0" indent="0" algn="l">
              <a:buNone/>
            </a:pPr>
            <a:r>
              <a:rPr lang="en-US" sz="1000" b="1" dirty="0">
                <a:solidFill>
                  <a:srgbClr val="001707"/>
                </a:solidFill>
                <a:latin typeface="Aptos Mono" pitchFamily="34" charset="0"/>
                <a:ea typeface="Aptos Mono" pitchFamily="34" charset="-122"/>
                <a:cs typeface="Aptos Mono" pitchFamily="34" charset="-120"/>
              </a:rPr>
              <a:t>ABSTRACT</a:t>
            </a:r>
            <a:endParaRPr lang="en-US" sz="1000" dirty="0"/>
          </a:p>
        </p:txBody>
      </p:sp>
      <p:sp>
        <p:nvSpPr>
          <p:cNvPr id="72" name="Text 70"/>
          <p:cNvSpPr/>
          <p:nvPr/>
        </p:nvSpPr>
        <p:spPr>
          <a:xfrm>
            <a:off x="310896" y="1996013"/>
            <a:ext cx="2670048" cy="557784"/>
          </a:xfrm>
          <a:prstGeom prst="rect">
            <a:avLst/>
          </a:prstGeom>
          <a:noFill/>
          <a:ln/>
        </p:spPr>
        <p:txBody>
          <a:bodyPr wrap="square" lIns="381" tIns="381" rIns="381" bIns="381" rtlCol="0" anchor="t">
            <a:noAutofit/>
          </a:bodyPr>
          <a:lstStyle/>
          <a:p>
            <a:pPr marL="0" indent="0" algn="l">
              <a:buNone/>
            </a:pPr>
            <a:r>
              <a:rPr lang="en-US" sz="700" dirty="0">
                <a:solidFill>
                  <a:srgbClr val="DCE9DF"/>
                </a:solidFill>
                <a:latin typeface="Aptos" pitchFamily="34" charset="0"/>
                <a:ea typeface="Aptos" pitchFamily="34" charset="-122"/>
                <a:cs typeface="Aptos" pitchFamily="34" charset="-120"/>
              </a:rPr>
              <a:t>autoMITRE automates analysis and framework mapping of unstructured security descriptions, logs, malware hashes and uploaded telemetry. It combines SecureBERT classification, semantic retrieval and dual-LLM mitigation generation to produce MITRE ATT&amp;CK, NIST 800-53, D3FEND and STIX 2.1 outputs for faster SOC decision-making.</a:t>
            </a:r>
            <a:endParaRPr lang="en-US" sz="700" dirty="0"/>
          </a:p>
        </p:txBody>
      </p:sp>
      <p:sp>
        <p:nvSpPr>
          <p:cNvPr id="73" name="Shape 71"/>
          <p:cNvSpPr/>
          <p:nvPr/>
        </p:nvSpPr>
        <p:spPr>
          <a:xfrm>
            <a:off x="3246120" y="1755648"/>
            <a:ext cx="2834640" cy="932688"/>
          </a:xfrm>
          <a:prstGeom prst="roundRect">
            <a:avLst>
              <a:gd name="adj" fmla="val 5882"/>
            </a:avLst>
          </a:prstGeom>
          <a:solidFill>
            <a:srgbClr val="07120A"/>
          </a:solidFill>
          <a:ln w="9525">
            <a:solidFill>
              <a:srgbClr val="00C447">
                <a:alpha val="90000"/>
              </a:srgbClr>
            </a:solidFill>
            <a:prstDash val="solid"/>
          </a:ln>
        </p:spPr>
        <p:txBody>
          <a:bodyPr/>
          <a:lstStyle/>
          <a:p>
            <a:endParaRPr lang="en-US"/>
          </a:p>
        </p:txBody>
      </p:sp>
      <p:sp>
        <p:nvSpPr>
          <p:cNvPr id="74" name="Shape 72"/>
          <p:cNvSpPr/>
          <p:nvPr/>
        </p:nvSpPr>
        <p:spPr>
          <a:xfrm>
            <a:off x="3246120" y="1755648"/>
            <a:ext cx="2834640" cy="201168"/>
          </a:xfrm>
          <a:prstGeom prst="rect">
            <a:avLst/>
          </a:prstGeom>
          <a:solidFill>
            <a:srgbClr val="00FF57">
              <a:alpha val="95000"/>
            </a:srgbClr>
          </a:solidFill>
          <a:ln w="12700">
            <a:solidFill>
              <a:srgbClr val="00FF57"/>
            </a:solidFill>
            <a:prstDash val="solid"/>
          </a:ln>
        </p:spPr>
        <p:txBody>
          <a:bodyPr/>
          <a:lstStyle/>
          <a:p>
            <a:endParaRPr lang="en-US"/>
          </a:p>
        </p:txBody>
      </p:sp>
      <p:sp>
        <p:nvSpPr>
          <p:cNvPr id="75" name="Text 73"/>
          <p:cNvSpPr/>
          <p:nvPr/>
        </p:nvSpPr>
        <p:spPr>
          <a:xfrm>
            <a:off x="3319272" y="1787652"/>
            <a:ext cx="2688336" cy="128016"/>
          </a:xfrm>
          <a:prstGeom prst="rect">
            <a:avLst/>
          </a:prstGeom>
          <a:noFill/>
          <a:ln/>
        </p:spPr>
        <p:txBody>
          <a:bodyPr wrap="square" lIns="381" tIns="381" rIns="381" bIns="381" rtlCol="0" anchor="t">
            <a:noAutofit/>
          </a:bodyPr>
          <a:lstStyle/>
          <a:p>
            <a:pPr marL="0" indent="0" algn="l">
              <a:buNone/>
            </a:pPr>
            <a:r>
              <a:rPr lang="en-US" sz="1000" b="1" dirty="0">
                <a:solidFill>
                  <a:srgbClr val="001707"/>
                </a:solidFill>
                <a:latin typeface="Aptos Mono" pitchFamily="34" charset="0"/>
                <a:ea typeface="Aptos Mono" pitchFamily="34" charset="-122"/>
                <a:cs typeface="Aptos Mono" pitchFamily="34" charset="-120"/>
              </a:rPr>
              <a:t>INTRODUCTION</a:t>
            </a:r>
            <a:endParaRPr lang="en-US" sz="1000" dirty="0"/>
          </a:p>
        </p:txBody>
      </p:sp>
      <p:sp>
        <p:nvSpPr>
          <p:cNvPr id="76" name="Text 74"/>
          <p:cNvSpPr/>
          <p:nvPr/>
        </p:nvSpPr>
        <p:spPr>
          <a:xfrm>
            <a:off x="3355848" y="2048256"/>
            <a:ext cx="2615184" cy="557784"/>
          </a:xfrm>
          <a:prstGeom prst="rect">
            <a:avLst/>
          </a:prstGeom>
          <a:noFill/>
          <a:ln/>
        </p:spPr>
        <p:txBody>
          <a:bodyPr wrap="square" lIns="381" tIns="381" rIns="381" bIns="381" rtlCol="0" anchor="t">
            <a:normAutofit/>
          </a:bodyPr>
          <a:lstStyle/>
          <a:p>
            <a:pPr marL="0" indent="0" algn="l">
              <a:buNone/>
            </a:pPr>
            <a:r>
              <a:rPr lang="en-US" sz="700" dirty="0">
                <a:solidFill>
                  <a:srgbClr val="DCE9DF"/>
                </a:solidFill>
                <a:latin typeface="Aptos" pitchFamily="34" charset="0"/>
                <a:ea typeface="Aptos" pitchFamily="34" charset="-122"/>
                <a:cs typeface="Aptos" pitchFamily="34" charset="-120"/>
              </a:rPr>
              <a:t>SOC analysts manually review alerts, indicators and threat descriptions to understand attacker behaviour. Static threat models and live SIEM alerts rarely share a common language. autoMITRE turns raw security data into structured techniques, severity scores and defensive recommendations.</a:t>
            </a:r>
            <a:endParaRPr lang="en-US" sz="700" dirty="0"/>
          </a:p>
        </p:txBody>
      </p:sp>
      <p:sp>
        <p:nvSpPr>
          <p:cNvPr id="77" name="Shape 75"/>
          <p:cNvSpPr/>
          <p:nvPr/>
        </p:nvSpPr>
        <p:spPr>
          <a:xfrm>
            <a:off x="6236208" y="1755648"/>
            <a:ext cx="2697480" cy="932688"/>
          </a:xfrm>
          <a:prstGeom prst="roundRect">
            <a:avLst>
              <a:gd name="adj" fmla="val 5882"/>
            </a:avLst>
          </a:prstGeom>
          <a:solidFill>
            <a:srgbClr val="07120A"/>
          </a:solidFill>
          <a:ln w="9525">
            <a:solidFill>
              <a:srgbClr val="00C447">
                <a:alpha val="90000"/>
              </a:srgbClr>
            </a:solidFill>
            <a:prstDash val="solid"/>
          </a:ln>
        </p:spPr>
        <p:txBody>
          <a:bodyPr/>
          <a:lstStyle/>
          <a:p>
            <a:endParaRPr lang="en-US"/>
          </a:p>
        </p:txBody>
      </p:sp>
      <p:sp>
        <p:nvSpPr>
          <p:cNvPr id="78" name="Shape 76"/>
          <p:cNvSpPr/>
          <p:nvPr/>
        </p:nvSpPr>
        <p:spPr>
          <a:xfrm>
            <a:off x="6236208" y="1755648"/>
            <a:ext cx="2697480" cy="201168"/>
          </a:xfrm>
          <a:prstGeom prst="rect">
            <a:avLst/>
          </a:prstGeom>
          <a:solidFill>
            <a:srgbClr val="00FF57">
              <a:alpha val="95000"/>
            </a:srgbClr>
          </a:solidFill>
          <a:ln w="12700">
            <a:solidFill>
              <a:srgbClr val="00FF57"/>
            </a:solidFill>
            <a:prstDash val="solid"/>
          </a:ln>
        </p:spPr>
        <p:txBody>
          <a:bodyPr/>
          <a:lstStyle/>
          <a:p>
            <a:endParaRPr lang="en-US"/>
          </a:p>
        </p:txBody>
      </p:sp>
      <p:sp>
        <p:nvSpPr>
          <p:cNvPr id="79" name="Text 77"/>
          <p:cNvSpPr/>
          <p:nvPr/>
        </p:nvSpPr>
        <p:spPr>
          <a:xfrm>
            <a:off x="6309360" y="1787652"/>
            <a:ext cx="2551176" cy="128016"/>
          </a:xfrm>
          <a:prstGeom prst="rect">
            <a:avLst/>
          </a:prstGeom>
          <a:noFill/>
          <a:ln/>
        </p:spPr>
        <p:txBody>
          <a:bodyPr wrap="square" lIns="381" tIns="381" rIns="381" bIns="381" rtlCol="0" anchor="t">
            <a:noAutofit/>
          </a:bodyPr>
          <a:lstStyle/>
          <a:p>
            <a:pPr marL="0" indent="0" algn="l">
              <a:buNone/>
            </a:pPr>
            <a:r>
              <a:rPr lang="en-US" sz="1000" b="1" dirty="0">
                <a:solidFill>
                  <a:srgbClr val="001707"/>
                </a:solidFill>
                <a:latin typeface="Aptos Mono" pitchFamily="34" charset="0"/>
                <a:ea typeface="Aptos Mono" pitchFamily="34" charset="-122"/>
                <a:cs typeface="Aptos Mono" pitchFamily="34" charset="-120"/>
              </a:rPr>
              <a:t>METHODS &amp; MATERIALS</a:t>
            </a:r>
            <a:endParaRPr lang="en-US" sz="1000" dirty="0"/>
          </a:p>
        </p:txBody>
      </p:sp>
      <p:sp>
        <p:nvSpPr>
          <p:cNvPr id="80" name="Text 78"/>
          <p:cNvSpPr/>
          <p:nvPr/>
        </p:nvSpPr>
        <p:spPr>
          <a:xfrm>
            <a:off x="6345936" y="2011680"/>
            <a:ext cx="2487168" cy="612648"/>
          </a:xfrm>
          <a:prstGeom prst="rect">
            <a:avLst/>
          </a:prstGeom>
          <a:noFill/>
          <a:ln/>
        </p:spPr>
        <p:txBody>
          <a:bodyPr wrap="square" lIns="381" tIns="381" rIns="381" bIns="381" rtlCol="0" anchor="ctr">
            <a:noAutofit/>
          </a:bodyPr>
          <a:lstStyle/>
          <a:p>
            <a:pPr marL="0" indent="0">
              <a:buNone/>
            </a:pPr>
            <a:r>
              <a:rPr lang="en-US" sz="700" dirty="0">
                <a:solidFill>
                  <a:srgbClr val="DCE9DF"/>
                </a:solidFill>
                <a:latin typeface="Aptos" pitchFamily="34" charset="0"/>
                <a:ea typeface="Aptos" pitchFamily="34" charset="-122"/>
                <a:cs typeface="Aptos" pitchFamily="34" charset="-120"/>
              </a:rPr>
              <a:t>&gt; React 18 + Vite dashboard</a:t>
            </a:r>
            <a:endParaRPr lang="en-US" sz="700" dirty="0"/>
          </a:p>
          <a:p>
            <a:pPr marL="0" indent="0">
              <a:buNone/>
            </a:pPr>
            <a:r>
              <a:rPr lang="en-US" sz="700" dirty="0">
                <a:solidFill>
                  <a:srgbClr val="DCE9DF"/>
                </a:solidFill>
                <a:latin typeface="Aptos" pitchFamily="34" charset="0"/>
                <a:ea typeface="Aptos" pitchFamily="34" charset="-122"/>
                <a:cs typeface="Aptos" pitchFamily="34" charset="-120"/>
              </a:rPr>
              <a:t>&gt; FastAPI + Python 3.13 API</a:t>
            </a:r>
            <a:endParaRPr lang="en-US" sz="700" dirty="0"/>
          </a:p>
          <a:p>
            <a:pPr marL="0" indent="0">
              <a:buNone/>
            </a:pPr>
            <a:r>
              <a:rPr lang="en-US" sz="700" dirty="0">
                <a:solidFill>
                  <a:srgbClr val="DCE9DF"/>
                </a:solidFill>
                <a:latin typeface="Aptos" pitchFamily="34" charset="0"/>
                <a:ea typeface="Aptos" pitchFamily="34" charset="-122"/>
                <a:cs typeface="Aptos" pitchFamily="34" charset="-120"/>
              </a:rPr>
              <a:t>&gt; SQLite + SQLAlchemy persistence</a:t>
            </a:r>
            <a:endParaRPr lang="en-US" sz="700" dirty="0"/>
          </a:p>
          <a:p>
            <a:pPr marL="0" indent="0">
              <a:buNone/>
            </a:pPr>
            <a:r>
              <a:rPr lang="en-US" sz="700" dirty="0">
                <a:solidFill>
                  <a:srgbClr val="DCE9DF"/>
                </a:solidFill>
                <a:latin typeface="Aptos" pitchFamily="34" charset="0"/>
                <a:ea typeface="Aptos" pitchFamily="34" charset="-122"/>
                <a:cs typeface="Aptos" pitchFamily="34" charset="-120"/>
              </a:rPr>
              <a:t>&gt; SecureBERT + MPNet + ChromaDB RAG</a:t>
            </a:r>
            <a:endParaRPr lang="en-US" sz="700" dirty="0"/>
          </a:p>
          <a:p>
            <a:pPr marL="0" indent="0">
              <a:buNone/>
            </a:pPr>
            <a:r>
              <a:rPr lang="en-US" sz="700" dirty="0">
                <a:solidFill>
                  <a:srgbClr val="DCE9DF"/>
                </a:solidFill>
                <a:latin typeface="Aptos" pitchFamily="34" charset="0"/>
                <a:ea typeface="Aptos" pitchFamily="34" charset="-122"/>
                <a:cs typeface="Aptos" pitchFamily="34" charset="-120"/>
              </a:rPr>
              <a:t>&gt; Groq Llama-3 + local Phi-3.5 fallback</a:t>
            </a:r>
            <a:endParaRPr lang="en-US" sz="700" dirty="0"/>
          </a:p>
          <a:p>
            <a:pPr marL="0" indent="0">
              <a:buNone/>
            </a:pPr>
            <a:r>
              <a:rPr lang="en-US" sz="700" dirty="0">
                <a:solidFill>
                  <a:srgbClr val="DCE9DF"/>
                </a:solidFill>
                <a:latin typeface="Aptos" pitchFamily="34" charset="0"/>
                <a:ea typeface="Aptos" pitchFamily="34" charset="-122"/>
                <a:cs typeface="Aptos" pitchFamily="34" charset="-120"/>
              </a:rPr>
              <a:t>&gt; Scapy parsing for uploaded PCAP evidence</a:t>
            </a:r>
            <a:endParaRPr lang="en-US" sz="700" dirty="0"/>
          </a:p>
        </p:txBody>
      </p:sp>
      <p:sp>
        <p:nvSpPr>
          <p:cNvPr id="81" name="Shape 79"/>
          <p:cNvSpPr/>
          <p:nvPr/>
        </p:nvSpPr>
        <p:spPr>
          <a:xfrm>
            <a:off x="201168" y="2834640"/>
            <a:ext cx="8732520" cy="1444752"/>
          </a:xfrm>
          <a:prstGeom prst="roundRect">
            <a:avLst>
              <a:gd name="adj" fmla="val 3797"/>
            </a:avLst>
          </a:prstGeom>
          <a:solidFill>
            <a:srgbClr val="07120A"/>
          </a:solidFill>
          <a:ln w="9525">
            <a:solidFill>
              <a:srgbClr val="00C447">
                <a:alpha val="90000"/>
              </a:srgbClr>
            </a:solidFill>
            <a:prstDash val="solid"/>
          </a:ln>
        </p:spPr>
        <p:txBody>
          <a:bodyPr/>
          <a:lstStyle/>
          <a:p>
            <a:endParaRPr lang="en-US"/>
          </a:p>
        </p:txBody>
      </p:sp>
      <p:sp>
        <p:nvSpPr>
          <p:cNvPr id="82" name="Shape 80"/>
          <p:cNvSpPr/>
          <p:nvPr/>
        </p:nvSpPr>
        <p:spPr>
          <a:xfrm>
            <a:off x="201168" y="2834640"/>
            <a:ext cx="8732520" cy="201168"/>
          </a:xfrm>
          <a:prstGeom prst="rect">
            <a:avLst/>
          </a:prstGeom>
          <a:solidFill>
            <a:srgbClr val="00FF57">
              <a:alpha val="95000"/>
            </a:srgbClr>
          </a:solidFill>
          <a:ln w="12700">
            <a:solidFill>
              <a:srgbClr val="00FF57"/>
            </a:solidFill>
            <a:prstDash val="solid"/>
          </a:ln>
        </p:spPr>
        <p:txBody>
          <a:bodyPr/>
          <a:lstStyle/>
          <a:p>
            <a:endParaRPr lang="en-US"/>
          </a:p>
        </p:txBody>
      </p:sp>
      <p:sp>
        <p:nvSpPr>
          <p:cNvPr id="83" name="Text 81"/>
          <p:cNvSpPr/>
          <p:nvPr/>
        </p:nvSpPr>
        <p:spPr>
          <a:xfrm>
            <a:off x="274320" y="2866644"/>
            <a:ext cx="8586216" cy="128016"/>
          </a:xfrm>
          <a:prstGeom prst="rect">
            <a:avLst/>
          </a:prstGeom>
          <a:noFill/>
          <a:ln/>
        </p:spPr>
        <p:txBody>
          <a:bodyPr wrap="square" lIns="381" tIns="381" rIns="381" bIns="381" rtlCol="0" anchor="t">
            <a:noAutofit/>
          </a:bodyPr>
          <a:lstStyle/>
          <a:p>
            <a:pPr marL="0" indent="0" algn="l">
              <a:buNone/>
            </a:pPr>
            <a:r>
              <a:rPr lang="en-US" sz="1000" b="1" dirty="0">
                <a:solidFill>
                  <a:srgbClr val="001707"/>
                </a:solidFill>
                <a:latin typeface="Aptos Mono" pitchFamily="34" charset="0"/>
                <a:ea typeface="Aptos Mono" pitchFamily="34" charset="-122"/>
                <a:cs typeface="Aptos Mono" pitchFamily="34" charset="-120"/>
              </a:rPr>
              <a:t>WORKFLOW / SYSTEM PIPELINE</a:t>
            </a:r>
            <a:endParaRPr lang="en-US" sz="1000" dirty="0"/>
          </a:p>
        </p:txBody>
      </p:sp>
      <p:sp>
        <p:nvSpPr>
          <p:cNvPr id="84" name="Shape 82"/>
          <p:cNvSpPr/>
          <p:nvPr/>
        </p:nvSpPr>
        <p:spPr>
          <a:xfrm>
            <a:off x="411480" y="3246120"/>
            <a:ext cx="1252728" cy="713232"/>
          </a:xfrm>
          <a:prstGeom prst="roundRect">
            <a:avLst>
              <a:gd name="adj" fmla="val 10256"/>
            </a:avLst>
          </a:prstGeom>
          <a:solidFill>
            <a:srgbClr val="020904"/>
          </a:solidFill>
          <a:ln w="10160">
            <a:solidFill>
              <a:srgbClr val="00FF57">
                <a:alpha val="92000"/>
              </a:srgbClr>
            </a:solidFill>
            <a:prstDash val="solid"/>
          </a:ln>
        </p:spPr>
        <p:txBody>
          <a:bodyPr/>
          <a:lstStyle/>
          <a:p>
            <a:endParaRPr lang="en-US"/>
          </a:p>
        </p:txBody>
      </p:sp>
      <p:sp>
        <p:nvSpPr>
          <p:cNvPr id="85" name="Shape 83"/>
          <p:cNvSpPr/>
          <p:nvPr/>
        </p:nvSpPr>
        <p:spPr>
          <a:xfrm>
            <a:off x="484632" y="3328416"/>
            <a:ext cx="228600" cy="228600"/>
          </a:xfrm>
          <a:prstGeom prst="ellipse">
            <a:avLst/>
          </a:prstGeom>
          <a:solidFill>
            <a:srgbClr val="00FF57"/>
          </a:solidFill>
          <a:ln w="3810">
            <a:solidFill>
              <a:srgbClr val="00FF57"/>
            </a:solidFill>
            <a:prstDash val="solid"/>
          </a:ln>
        </p:spPr>
        <p:txBody>
          <a:bodyPr/>
          <a:lstStyle/>
          <a:p>
            <a:endParaRPr lang="en-US"/>
          </a:p>
        </p:txBody>
      </p:sp>
      <p:sp>
        <p:nvSpPr>
          <p:cNvPr id="86" name="Text 84"/>
          <p:cNvSpPr/>
          <p:nvPr/>
        </p:nvSpPr>
        <p:spPr>
          <a:xfrm>
            <a:off x="546063" y="3397115"/>
            <a:ext cx="91440" cy="91440"/>
          </a:xfrm>
          <a:prstGeom prst="rect">
            <a:avLst/>
          </a:prstGeom>
          <a:noFill/>
          <a:ln/>
        </p:spPr>
        <p:txBody>
          <a:bodyPr wrap="square" lIns="381" tIns="381" rIns="381" bIns="381" rtlCol="0" anchor="t">
            <a:normAutofit lnSpcReduction="10000"/>
          </a:bodyPr>
          <a:lstStyle/>
          <a:p>
            <a:pPr marL="0" indent="0" algn="ctr">
              <a:buNone/>
            </a:pPr>
            <a:r>
              <a:rPr lang="en-US" sz="600" b="1" dirty="0">
                <a:solidFill>
                  <a:srgbClr val="001707"/>
                </a:solidFill>
                <a:latin typeface="Aptos Mono" pitchFamily="34" charset="0"/>
                <a:ea typeface="Aptos Mono" pitchFamily="34" charset="-122"/>
                <a:cs typeface="Aptos Mono" pitchFamily="34" charset="-120"/>
              </a:rPr>
              <a:t>1</a:t>
            </a:r>
            <a:endParaRPr lang="en-US" sz="600" dirty="0"/>
          </a:p>
        </p:txBody>
      </p:sp>
      <p:sp>
        <p:nvSpPr>
          <p:cNvPr id="87" name="Text 85"/>
          <p:cNvSpPr/>
          <p:nvPr/>
        </p:nvSpPr>
        <p:spPr>
          <a:xfrm>
            <a:off x="260491" y="3615442"/>
            <a:ext cx="1069848" cy="118872"/>
          </a:xfrm>
          <a:prstGeom prst="rect">
            <a:avLst/>
          </a:prstGeom>
          <a:noFill/>
          <a:ln/>
        </p:spPr>
        <p:txBody>
          <a:bodyPr wrap="square" lIns="381" tIns="381" rIns="381" bIns="381" rtlCol="0" anchor="t">
            <a:normAutofit/>
          </a:bodyPr>
          <a:lstStyle/>
          <a:p>
            <a:pPr marL="0" indent="0" algn="ctr">
              <a:buNone/>
            </a:pPr>
            <a:r>
              <a:rPr lang="en-US" sz="560" b="1" dirty="0">
                <a:solidFill>
                  <a:srgbClr val="00FF57"/>
                </a:solidFill>
                <a:latin typeface="Aptos Mono" pitchFamily="34" charset="0"/>
                <a:ea typeface="Aptos Mono" pitchFamily="34" charset="-122"/>
                <a:cs typeface="Aptos Mono" pitchFamily="34" charset="-120"/>
              </a:rPr>
              <a:t>INGESTION</a:t>
            </a:r>
            <a:endParaRPr lang="en-US" sz="560" dirty="0"/>
          </a:p>
        </p:txBody>
      </p:sp>
      <p:sp>
        <p:nvSpPr>
          <p:cNvPr id="88" name="Text 86"/>
          <p:cNvSpPr/>
          <p:nvPr/>
        </p:nvSpPr>
        <p:spPr>
          <a:xfrm>
            <a:off x="502920" y="3707679"/>
            <a:ext cx="1069848" cy="146304"/>
          </a:xfrm>
          <a:prstGeom prst="rect">
            <a:avLst/>
          </a:prstGeom>
          <a:noFill/>
          <a:ln/>
        </p:spPr>
        <p:txBody>
          <a:bodyPr wrap="square" lIns="381" tIns="381" rIns="381" bIns="381" rtlCol="0" anchor="t">
            <a:noAutofit/>
          </a:bodyPr>
          <a:lstStyle/>
          <a:p>
            <a:pPr marL="0" indent="0" algn="ctr">
              <a:buNone/>
            </a:pPr>
            <a:r>
              <a:rPr lang="en-US" sz="700" dirty="0">
                <a:solidFill>
                  <a:srgbClr val="C9D4CC"/>
                </a:solidFill>
                <a:latin typeface="Aptos" pitchFamily="34" charset="0"/>
                <a:ea typeface="Aptos" pitchFamily="34" charset="-122"/>
                <a:cs typeface="Aptos" pitchFamily="34" charset="-120"/>
              </a:rPr>
              <a:t>Text, logs, hashes, uploaded files</a:t>
            </a:r>
            <a:endParaRPr lang="en-US" sz="700" dirty="0"/>
          </a:p>
        </p:txBody>
      </p:sp>
      <p:sp>
        <p:nvSpPr>
          <p:cNvPr id="89" name="Shape 87"/>
          <p:cNvSpPr/>
          <p:nvPr/>
        </p:nvSpPr>
        <p:spPr>
          <a:xfrm>
            <a:off x="1691640" y="3520440"/>
            <a:ext cx="128016" cy="173736"/>
          </a:xfrm>
          <a:prstGeom prst="chevron">
            <a:avLst/>
          </a:prstGeom>
          <a:solidFill>
            <a:srgbClr val="00FF57"/>
          </a:solidFill>
          <a:ln w="12700">
            <a:solidFill>
              <a:srgbClr val="00FF57"/>
            </a:solidFill>
            <a:prstDash val="solid"/>
          </a:ln>
        </p:spPr>
        <p:txBody>
          <a:bodyPr/>
          <a:lstStyle/>
          <a:p>
            <a:endParaRPr lang="en-US"/>
          </a:p>
        </p:txBody>
      </p:sp>
      <p:sp>
        <p:nvSpPr>
          <p:cNvPr id="90" name="Shape 88"/>
          <p:cNvSpPr/>
          <p:nvPr/>
        </p:nvSpPr>
        <p:spPr>
          <a:xfrm>
            <a:off x="1819656" y="3246120"/>
            <a:ext cx="1252728" cy="713232"/>
          </a:xfrm>
          <a:prstGeom prst="roundRect">
            <a:avLst>
              <a:gd name="adj" fmla="val 10256"/>
            </a:avLst>
          </a:prstGeom>
          <a:solidFill>
            <a:srgbClr val="020904"/>
          </a:solidFill>
          <a:ln w="10160">
            <a:solidFill>
              <a:srgbClr val="00FF57">
                <a:alpha val="92000"/>
              </a:srgbClr>
            </a:solidFill>
            <a:prstDash val="solid"/>
          </a:ln>
        </p:spPr>
        <p:txBody>
          <a:bodyPr/>
          <a:lstStyle/>
          <a:p>
            <a:endParaRPr lang="en-US"/>
          </a:p>
        </p:txBody>
      </p:sp>
      <p:sp>
        <p:nvSpPr>
          <p:cNvPr id="91" name="Shape 89"/>
          <p:cNvSpPr/>
          <p:nvPr/>
        </p:nvSpPr>
        <p:spPr>
          <a:xfrm>
            <a:off x="1892808" y="3328416"/>
            <a:ext cx="228600" cy="228600"/>
          </a:xfrm>
          <a:prstGeom prst="ellipse">
            <a:avLst/>
          </a:prstGeom>
          <a:solidFill>
            <a:srgbClr val="00FF57"/>
          </a:solidFill>
          <a:ln w="3810">
            <a:solidFill>
              <a:srgbClr val="00FF57"/>
            </a:solidFill>
            <a:prstDash val="solid"/>
          </a:ln>
        </p:spPr>
        <p:txBody>
          <a:bodyPr/>
          <a:lstStyle/>
          <a:p>
            <a:endParaRPr lang="en-US"/>
          </a:p>
        </p:txBody>
      </p:sp>
      <p:sp>
        <p:nvSpPr>
          <p:cNvPr id="92" name="Text 90"/>
          <p:cNvSpPr/>
          <p:nvPr/>
        </p:nvSpPr>
        <p:spPr>
          <a:xfrm>
            <a:off x="1961388" y="3369564"/>
            <a:ext cx="91440" cy="91440"/>
          </a:xfrm>
          <a:prstGeom prst="rect">
            <a:avLst/>
          </a:prstGeom>
          <a:noFill/>
          <a:ln/>
        </p:spPr>
        <p:txBody>
          <a:bodyPr wrap="square" lIns="381" tIns="381" rIns="381" bIns="381" rtlCol="0" anchor="t">
            <a:normAutofit lnSpcReduction="10000"/>
          </a:bodyPr>
          <a:lstStyle/>
          <a:p>
            <a:pPr marL="0" indent="0" algn="ctr">
              <a:buNone/>
            </a:pPr>
            <a:r>
              <a:rPr lang="en-US" sz="600" b="1" dirty="0">
                <a:solidFill>
                  <a:srgbClr val="001707"/>
                </a:solidFill>
                <a:latin typeface="Aptos Mono" pitchFamily="34" charset="0"/>
                <a:ea typeface="Aptos Mono" pitchFamily="34" charset="-122"/>
                <a:cs typeface="Aptos Mono" pitchFamily="34" charset="-120"/>
              </a:rPr>
              <a:t>2</a:t>
            </a:r>
            <a:endParaRPr lang="en-US" sz="600" dirty="0"/>
          </a:p>
        </p:txBody>
      </p:sp>
      <p:sp>
        <p:nvSpPr>
          <p:cNvPr id="93" name="Text 91"/>
          <p:cNvSpPr/>
          <p:nvPr/>
        </p:nvSpPr>
        <p:spPr>
          <a:xfrm>
            <a:off x="1744539" y="3613516"/>
            <a:ext cx="1069848" cy="118872"/>
          </a:xfrm>
          <a:prstGeom prst="rect">
            <a:avLst/>
          </a:prstGeom>
          <a:noFill/>
          <a:ln/>
        </p:spPr>
        <p:txBody>
          <a:bodyPr wrap="square" lIns="381" tIns="381" rIns="381" bIns="381" rtlCol="0" anchor="t">
            <a:normAutofit/>
          </a:bodyPr>
          <a:lstStyle/>
          <a:p>
            <a:pPr marL="0" indent="0" algn="ctr">
              <a:buNone/>
            </a:pPr>
            <a:r>
              <a:rPr lang="en-US" sz="560" b="1" dirty="0">
                <a:solidFill>
                  <a:srgbClr val="00FF57"/>
                </a:solidFill>
                <a:latin typeface="Aptos Mono" pitchFamily="34" charset="0"/>
                <a:ea typeface="Aptos Mono" pitchFamily="34" charset="-122"/>
                <a:cs typeface="Aptos Mono" pitchFamily="34" charset="-120"/>
              </a:rPr>
              <a:t>PREPROCESS</a:t>
            </a:r>
            <a:endParaRPr lang="en-US" sz="560" dirty="0"/>
          </a:p>
        </p:txBody>
      </p:sp>
      <p:sp>
        <p:nvSpPr>
          <p:cNvPr id="94" name="Text 92"/>
          <p:cNvSpPr/>
          <p:nvPr/>
        </p:nvSpPr>
        <p:spPr>
          <a:xfrm>
            <a:off x="1911096" y="3749040"/>
            <a:ext cx="1069848" cy="146304"/>
          </a:xfrm>
          <a:prstGeom prst="rect">
            <a:avLst/>
          </a:prstGeom>
          <a:noFill/>
          <a:ln/>
        </p:spPr>
        <p:txBody>
          <a:bodyPr wrap="square" lIns="381" tIns="381" rIns="381" bIns="381" rtlCol="0" anchor="t">
            <a:normAutofit/>
          </a:bodyPr>
          <a:lstStyle/>
          <a:p>
            <a:pPr marL="0" indent="0" algn="ctr">
              <a:buNone/>
            </a:pPr>
            <a:r>
              <a:rPr lang="en-US" sz="700" dirty="0">
                <a:solidFill>
                  <a:srgbClr val="C9D4CC"/>
                </a:solidFill>
                <a:latin typeface="Aptos" pitchFamily="34" charset="0"/>
                <a:ea typeface="Aptos" pitchFamily="34" charset="-122"/>
                <a:cs typeface="Aptos" pitchFamily="34" charset="-120"/>
              </a:rPr>
              <a:t>Normalise text + features</a:t>
            </a:r>
            <a:endParaRPr lang="en-US" sz="700" dirty="0"/>
          </a:p>
        </p:txBody>
      </p:sp>
      <p:sp>
        <p:nvSpPr>
          <p:cNvPr id="95" name="Shape 93"/>
          <p:cNvSpPr/>
          <p:nvPr/>
        </p:nvSpPr>
        <p:spPr>
          <a:xfrm>
            <a:off x="3099816" y="3520440"/>
            <a:ext cx="128016" cy="173736"/>
          </a:xfrm>
          <a:prstGeom prst="chevron">
            <a:avLst/>
          </a:prstGeom>
          <a:solidFill>
            <a:srgbClr val="00FF57"/>
          </a:solidFill>
          <a:ln w="12700">
            <a:solidFill>
              <a:srgbClr val="00FF57"/>
            </a:solidFill>
            <a:prstDash val="solid"/>
          </a:ln>
        </p:spPr>
        <p:txBody>
          <a:bodyPr/>
          <a:lstStyle/>
          <a:p>
            <a:endParaRPr lang="en-US"/>
          </a:p>
        </p:txBody>
      </p:sp>
      <p:sp>
        <p:nvSpPr>
          <p:cNvPr id="96" name="Shape 94"/>
          <p:cNvSpPr/>
          <p:nvPr/>
        </p:nvSpPr>
        <p:spPr>
          <a:xfrm>
            <a:off x="3227832" y="3246120"/>
            <a:ext cx="1252728" cy="713232"/>
          </a:xfrm>
          <a:prstGeom prst="roundRect">
            <a:avLst>
              <a:gd name="adj" fmla="val 10256"/>
            </a:avLst>
          </a:prstGeom>
          <a:solidFill>
            <a:srgbClr val="020904"/>
          </a:solidFill>
          <a:ln w="10160">
            <a:solidFill>
              <a:srgbClr val="00FF57">
                <a:alpha val="92000"/>
              </a:srgbClr>
            </a:solidFill>
            <a:prstDash val="solid"/>
          </a:ln>
        </p:spPr>
        <p:txBody>
          <a:bodyPr/>
          <a:lstStyle/>
          <a:p>
            <a:endParaRPr lang="en-US"/>
          </a:p>
        </p:txBody>
      </p:sp>
      <p:sp>
        <p:nvSpPr>
          <p:cNvPr id="97" name="Shape 95"/>
          <p:cNvSpPr/>
          <p:nvPr/>
        </p:nvSpPr>
        <p:spPr>
          <a:xfrm>
            <a:off x="3300984" y="3328416"/>
            <a:ext cx="228600" cy="228600"/>
          </a:xfrm>
          <a:prstGeom prst="ellipse">
            <a:avLst/>
          </a:prstGeom>
          <a:solidFill>
            <a:srgbClr val="00FF57"/>
          </a:solidFill>
          <a:ln w="3810">
            <a:solidFill>
              <a:srgbClr val="00FF57"/>
            </a:solidFill>
            <a:prstDash val="solid"/>
          </a:ln>
        </p:spPr>
        <p:txBody>
          <a:bodyPr/>
          <a:lstStyle/>
          <a:p>
            <a:endParaRPr lang="en-US"/>
          </a:p>
        </p:txBody>
      </p:sp>
      <p:sp>
        <p:nvSpPr>
          <p:cNvPr id="98" name="Text 96"/>
          <p:cNvSpPr/>
          <p:nvPr/>
        </p:nvSpPr>
        <p:spPr>
          <a:xfrm>
            <a:off x="3369564" y="3369564"/>
            <a:ext cx="91440" cy="91440"/>
          </a:xfrm>
          <a:prstGeom prst="rect">
            <a:avLst/>
          </a:prstGeom>
          <a:noFill/>
          <a:ln/>
        </p:spPr>
        <p:txBody>
          <a:bodyPr wrap="square" lIns="381" tIns="381" rIns="381" bIns="381" rtlCol="0" anchor="t">
            <a:normAutofit lnSpcReduction="10000"/>
          </a:bodyPr>
          <a:lstStyle/>
          <a:p>
            <a:pPr marL="0" indent="0" algn="ctr">
              <a:buNone/>
            </a:pPr>
            <a:r>
              <a:rPr lang="en-US" sz="600" b="1" dirty="0">
                <a:solidFill>
                  <a:srgbClr val="001707"/>
                </a:solidFill>
                <a:latin typeface="Aptos Mono" pitchFamily="34" charset="0"/>
                <a:ea typeface="Aptos Mono" pitchFamily="34" charset="-122"/>
                <a:cs typeface="Aptos Mono" pitchFamily="34" charset="-120"/>
              </a:rPr>
              <a:t>3</a:t>
            </a:r>
            <a:endParaRPr lang="en-US" sz="600" dirty="0"/>
          </a:p>
        </p:txBody>
      </p:sp>
      <p:sp>
        <p:nvSpPr>
          <p:cNvPr id="99" name="Text 97"/>
          <p:cNvSpPr/>
          <p:nvPr/>
        </p:nvSpPr>
        <p:spPr>
          <a:xfrm>
            <a:off x="3319272" y="3602736"/>
            <a:ext cx="1069848" cy="118872"/>
          </a:xfrm>
          <a:prstGeom prst="rect">
            <a:avLst/>
          </a:prstGeom>
          <a:noFill/>
          <a:ln/>
        </p:spPr>
        <p:txBody>
          <a:bodyPr wrap="square" lIns="381" tIns="381" rIns="381" bIns="381" rtlCol="0" anchor="t">
            <a:normAutofit/>
          </a:bodyPr>
          <a:lstStyle/>
          <a:p>
            <a:pPr marL="0" indent="0" algn="ctr">
              <a:buNone/>
            </a:pPr>
            <a:r>
              <a:rPr lang="en-US" sz="560" b="1" dirty="0">
                <a:solidFill>
                  <a:srgbClr val="00FF57"/>
                </a:solidFill>
                <a:latin typeface="Aptos Mono" pitchFamily="34" charset="0"/>
                <a:ea typeface="Aptos Mono" pitchFamily="34" charset="-122"/>
                <a:cs typeface="Aptos Mono" pitchFamily="34" charset="-120"/>
              </a:rPr>
              <a:t>AI MAPPING</a:t>
            </a:r>
            <a:endParaRPr lang="en-US" sz="560" dirty="0"/>
          </a:p>
        </p:txBody>
      </p:sp>
      <p:sp>
        <p:nvSpPr>
          <p:cNvPr id="100" name="Text 98"/>
          <p:cNvSpPr/>
          <p:nvPr/>
        </p:nvSpPr>
        <p:spPr>
          <a:xfrm>
            <a:off x="3319272" y="3722560"/>
            <a:ext cx="1069848" cy="146304"/>
          </a:xfrm>
          <a:prstGeom prst="rect">
            <a:avLst/>
          </a:prstGeom>
          <a:noFill/>
          <a:ln/>
        </p:spPr>
        <p:txBody>
          <a:bodyPr wrap="square" lIns="381" tIns="381" rIns="381" bIns="381" rtlCol="0" anchor="t">
            <a:noAutofit/>
          </a:bodyPr>
          <a:lstStyle/>
          <a:p>
            <a:pPr marL="0" indent="0" algn="ctr">
              <a:buNone/>
            </a:pPr>
            <a:r>
              <a:rPr lang="en-US" sz="700" dirty="0" err="1">
                <a:solidFill>
                  <a:srgbClr val="C9D4CC"/>
                </a:solidFill>
                <a:latin typeface="Aptos" pitchFamily="34" charset="0"/>
                <a:ea typeface="Aptos" pitchFamily="34" charset="-122"/>
                <a:cs typeface="Aptos" pitchFamily="34" charset="-120"/>
              </a:rPr>
              <a:t>SecureBERT</a:t>
            </a:r>
            <a:r>
              <a:rPr lang="en-US" sz="700" dirty="0">
                <a:solidFill>
                  <a:srgbClr val="C9D4CC"/>
                </a:solidFill>
                <a:latin typeface="Aptos" pitchFamily="34" charset="0"/>
                <a:ea typeface="Aptos" pitchFamily="34" charset="-122"/>
                <a:cs typeface="Aptos" pitchFamily="34" charset="-120"/>
              </a:rPr>
              <a:t> + heuristics + </a:t>
            </a:r>
            <a:r>
              <a:rPr lang="en-US" sz="700" dirty="0" err="1">
                <a:solidFill>
                  <a:srgbClr val="C9D4CC"/>
                </a:solidFill>
                <a:latin typeface="Aptos" pitchFamily="34" charset="0"/>
                <a:ea typeface="Aptos" pitchFamily="34" charset="-122"/>
                <a:cs typeface="Aptos" pitchFamily="34" charset="-120"/>
              </a:rPr>
              <a:t>MPNet</a:t>
            </a:r>
            <a:endParaRPr lang="en-US" sz="700" dirty="0"/>
          </a:p>
        </p:txBody>
      </p:sp>
      <p:sp>
        <p:nvSpPr>
          <p:cNvPr id="101" name="Shape 99"/>
          <p:cNvSpPr/>
          <p:nvPr/>
        </p:nvSpPr>
        <p:spPr>
          <a:xfrm>
            <a:off x="4507992" y="3520440"/>
            <a:ext cx="128016" cy="173736"/>
          </a:xfrm>
          <a:prstGeom prst="chevron">
            <a:avLst/>
          </a:prstGeom>
          <a:solidFill>
            <a:srgbClr val="00FF57"/>
          </a:solidFill>
          <a:ln w="12700">
            <a:solidFill>
              <a:srgbClr val="00FF57"/>
            </a:solidFill>
            <a:prstDash val="solid"/>
          </a:ln>
        </p:spPr>
        <p:txBody>
          <a:bodyPr/>
          <a:lstStyle/>
          <a:p>
            <a:endParaRPr lang="en-US"/>
          </a:p>
        </p:txBody>
      </p:sp>
      <p:sp>
        <p:nvSpPr>
          <p:cNvPr id="102" name="Shape 100"/>
          <p:cNvSpPr/>
          <p:nvPr/>
        </p:nvSpPr>
        <p:spPr>
          <a:xfrm>
            <a:off x="4636008" y="3246120"/>
            <a:ext cx="1252728" cy="713232"/>
          </a:xfrm>
          <a:prstGeom prst="roundRect">
            <a:avLst>
              <a:gd name="adj" fmla="val 10256"/>
            </a:avLst>
          </a:prstGeom>
          <a:solidFill>
            <a:srgbClr val="020904"/>
          </a:solidFill>
          <a:ln w="10160">
            <a:solidFill>
              <a:srgbClr val="00FF57">
                <a:alpha val="92000"/>
              </a:srgbClr>
            </a:solidFill>
            <a:prstDash val="solid"/>
          </a:ln>
        </p:spPr>
        <p:txBody>
          <a:bodyPr/>
          <a:lstStyle/>
          <a:p>
            <a:endParaRPr lang="en-US"/>
          </a:p>
        </p:txBody>
      </p:sp>
      <p:sp>
        <p:nvSpPr>
          <p:cNvPr id="103" name="Shape 101"/>
          <p:cNvSpPr/>
          <p:nvPr/>
        </p:nvSpPr>
        <p:spPr>
          <a:xfrm>
            <a:off x="4709160" y="3328416"/>
            <a:ext cx="228600" cy="228600"/>
          </a:xfrm>
          <a:prstGeom prst="ellipse">
            <a:avLst/>
          </a:prstGeom>
          <a:solidFill>
            <a:srgbClr val="00FF57"/>
          </a:solidFill>
          <a:ln w="3810">
            <a:solidFill>
              <a:srgbClr val="00FF57"/>
            </a:solidFill>
            <a:prstDash val="solid"/>
          </a:ln>
        </p:spPr>
        <p:txBody>
          <a:bodyPr/>
          <a:lstStyle/>
          <a:p>
            <a:endParaRPr lang="en-US"/>
          </a:p>
        </p:txBody>
      </p:sp>
      <p:sp>
        <p:nvSpPr>
          <p:cNvPr id="104" name="Text 102"/>
          <p:cNvSpPr/>
          <p:nvPr/>
        </p:nvSpPr>
        <p:spPr>
          <a:xfrm>
            <a:off x="4777740" y="3369564"/>
            <a:ext cx="91440" cy="91440"/>
          </a:xfrm>
          <a:prstGeom prst="rect">
            <a:avLst/>
          </a:prstGeom>
          <a:noFill/>
          <a:ln/>
        </p:spPr>
        <p:txBody>
          <a:bodyPr wrap="square" lIns="381" tIns="381" rIns="381" bIns="381" rtlCol="0" anchor="t">
            <a:normAutofit lnSpcReduction="10000"/>
          </a:bodyPr>
          <a:lstStyle/>
          <a:p>
            <a:pPr marL="0" indent="0" algn="ctr">
              <a:buNone/>
            </a:pPr>
            <a:r>
              <a:rPr lang="en-US" sz="600" b="1" dirty="0">
                <a:solidFill>
                  <a:srgbClr val="001707"/>
                </a:solidFill>
                <a:latin typeface="Aptos Mono" pitchFamily="34" charset="0"/>
                <a:ea typeface="Aptos Mono" pitchFamily="34" charset="-122"/>
                <a:cs typeface="Aptos Mono" pitchFamily="34" charset="-120"/>
              </a:rPr>
              <a:t>4</a:t>
            </a:r>
            <a:endParaRPr lang="en-US" sz="600" dirty="0"/>
          </a:p>
        </p:txBody>
      </p:sp>
      <p:sp>
        <p:nvSpPr>
          <p:cNvPr id="105" name="Text 103"/>
          <p:cNvSpPr/>
          <p:nvPr/>
        </p:nvSpPr>
        <p:spPr>
          <a:xfrm>
            <a:off x="4608576" y="3614545"/>
            <a:ext cx="1069848" cy="118872"/>
          </a:xfrm>
          <a:prstGeom prst="rect">
            <a:avLst/>
          </a:prstGeom>
          <a:noFill/>
          <a:ln/>
        </p:spPr>
        <p:txBody>
          <a:bodyPr wrap="square" lIns="381" tIns="381" rIns="381" bIns="381" rtlCol="0" anchor="t">
            <a:normAutofit/>
          </a:bodyPr>
          <a:lstStyle/>
          <a:p>
            <a:pPr marL="0" indent="0" algn="ctr">
              <a:buNone/>
            </a:pPr>
            <a:r>
              <a:rPr lang="en-US" sz="560" b="1" dirty="0">
                <a:solidFill>
                  <a:srgbClr val="00FF57"/>
                </a:solidFill>
                <a:latin typeface="Aptos Mono" pitchFamily="34" charset="0"/>
                <a:ea typeface="Aptos Mono" pitchFamily="34" charset="-122"/>
                <a:cs typeface="Aptos Mono" pitchFamily="34" charset="-120"/>
              </a:rPr>
              <a:t>RISK SCORING</a:t>
            </a:r>
            <a:endParaRPr lang="en-US" sz="560" dirty="0"/>
          </a:p>
        </p:txBody>
      </p:sp>
      <p:sp>
        <p:nvSpPr>
          <p:cNvPr id="106" name="Text 104"/>
          <p:cNvSpPr/>
          <p:nvPr/>
        </p:nvSpPr>
        <p:spPr>
          <a:xfrm>
            <a:off x="4727448" y="3749040"/>
            <a:ext cx="1069848" cy="146304"/>
          </a:xfrm>
          <a:prstGeom prst="rect">
            <a:avLst/>
          </a:prstGeom>
          <a:noFill/>
          <a:ln/>
        </p:spPr>
        <p:txBody>
          <a:bodyPr wrap="square" lIns="381" tIns="381" rIns="381" bIns="381" rtlCol="0" anchor="t">
            <a:normAutofit/>
          </a:bodyPr>
          <a:lstStyle/>
          <a:p>
            <a:pPr marL="0" indent="0" algn="ctr">
              <a:buNone/>
            </a:pPr>
            <a:r>
              <a:rPr lang="en-US" sz="700" dirty="0">
                <a:solidFill>
                  <a:srgbClr val="C9D4CC"/>
                </a:solidFill>
                <a:latin typeface="Aptos" pitchFamily="34" charset="0"/>
                <a:ea typeface="Aptos" pitchFamily="34" charset="-122"/>
                <a:cs typeface="Aptos" pitchFamily="34" charset="-120"/>
              </a:rPr>
              <a:t>CVSS severity prediction</a:t>
            </a:r>
            <a:endParaRPr lang="en-US" sz="700" dirty="0"/>
          </a:p>
        </p:txBody>
      </p:sp>
      <p:sp>
        <p:nvSpPr>
          <p:cNvPr id="107" name="Shape 105"/>
          <p:cNvSpPr/>
          <p:nvPr/>
        </p:nvSpPr>
        <p:spPr>
          <a:xfrm>
            <a:off x="5916168" y="3520440"/>
            <a:ext cx="128016" cy="173736"/>
          </a:xfrm>
          <a:prstGeom prst="chevron">
            <a:avLst/>
          </a:prstGeom>
          <a:solidFill>
            <a:srgbClr val="00FF57"/>
          </a:solidFill>
          <a:ln w="12700">
            <a:solidFill>
              <a:srgbClr val="00FF57"/>
            </a:solidFill>
            <a:prstDash val="solid"/>
          </a:ln>
        </p:spPr>
        <p:txBody>
          <a:bodyPr/>
          <a:lstStyle/>
          <a:p>
            <a:endParaRPr lang="en-US"/>
          </a:p>
        </p:txBody>
      </p:sp>
      <p:sp>
        <p:nvSpPr>
          <p:cNvPr id="108" name="Shape 106"/>
          <p:cNvSpPr/>
          <p:nvPr/>
        </p:nvSpPr>
        <p:spPr>
          <a:xfrm>
            <a:off x="6044184" y="3246120"/>
            <a:ext cx="1252728" cy="713232"/>
          </a:xfrm>
          <a:prstGeom prst="roundRect">
            <a:avLst>
              <a:gd name="adj" fmla="val 10256"/>
            </a:avLst>
          </a:prstGeom>
          <a:solidFill>
            <a:srgbClr val="020904"/>
          </a:solidFill>
          <a:ln w="10160">
            <a:solidFill>
              <a:srgbClr val="00FF57">
                <a:alpha val="92000"/>
              </a:srgbClr>
            </a:solidFill>
            <a:prstDash val="solid"/>
          </a:ln>
        </p:spPr>
        <p:txBody>
          <a:bodyPr/>
          <a:lstStyle/>
          <a:p>
            <a:endParaRPr lang="en-US"/>
          </a:p>
        </p:txBody>
      </p:sp>
      <p:sp>
        <p:nvSpPr>
          <p:cNvPr id="109" name="Shape 107"/>
          <p:cNvSpPr/>
          <p:nvPr/>
        </p:nvSpPr>
        <p:spPr>
          <a:xfrm>
            <a:off x="6117336" y="3328416"/>
            <a:ext cx="228600" cy="228600"/>
          </a:xfrm>
          <a:prstGeom prst="ellipse">
            <a:avLst/>
          </a:prstGeom>
          <a:solidFill>
            <a:srgbClr val="00FF57"/>
          </a:solidFill>
          <a:ln w="3810">
            <a:solidFill>
              <a:srgbClr val="00FF57"/>
            </a:solidFill>
            <a:prstDash val="solid"/>
          </a:ln>
        </p:spPr>
        <p:txBody>
          <a:bodyPr/>
          <a:lstStyle/>
          <a:p>
            <a:endParaRPr lang="en-US"/>
          </a:p>
        </p:txBody>
      </p:sp>
      <p:sp>
        <p:nvSpPr>
          <p:cNvPr id="110" name="Text 108"/>
          <p:cNvSpPr/>
          <p:nvPr/>
        </p:nvSpPr>
        <p:spPr>
          <a:xfrm>
            <a:off x="6185916" y="3369564"/>
            <a:ext cx="91440" cy="91440"/>
          </a:xfrm>
          <a:prstGeom prst="rect">
            <a:avLst/>
          </a:prstGeom>
          <a:noFill/>
          <a:ln/>
        </p:spPr>
        <p:txBody>
          <a:bodyPr wrap="square" lIns="381" tIns="381" rIns="381" bIns="381" rtlCol="0" anchor="t">
            <a:normAutofit lnSpcReduction="10000"/>
          </a:bodyPr>
          <a:lstStyle/>
          <a:p>
            <a:pPr marL="0" indent="0" algn="ctr">
              <a:buNone/>
            </a:pPr>
            <a:r>
              <a:rPr lang="en-US" sz="600" b="1" dirty="0">
                <a:solidFill>
                  <a:srgbClr val="001707"/>
                </a:solidFill>
                <a:latin typeface="Aptos Mono" pitchFamily="34" charset="0"/>
                <a:ea typeface="Aptos Mono" pitchFamily="34" charset="-122"/>
                <a:cs typeface="Aptos Mono" pitchFamily="34" charset="-120"/>
              </a:rPr>
              <a:t>5</a:t>
            </a:r>
            <a:endParaRPr lang="en-US" sz="600" dirty="0"/>
          </a:p>
        </p:txBody>
      </p:sp>
      <p:sp>
        <p:nvSpPr>
          <p:cNvPr id="111" name="Text 109"/>
          <p:cNvSpPr/>
          <p:nvPr/>
        </p:nvSpPr>
        <p:spPr>
          <a:xfrm>
            <a:off x="6043054" y="3609475"/>
            <a:ext cx="1069848" cy="118872"/>
          </a:xfrm>
          <a:prstGeom prst="rect">
            <a:avLst/>
          </a:prstGeom>
          <a:noFill/>
          <a:ln/>
        </p:spPr>
        <p:txBody>
          <a:bodyPr wrap="square" lIns="381" tIns="381" rIns="381" bIns="381" rtlCol="0" anchor="t">
            <a:normAutofit/>
          </a:bodyPr>
          <a:lstStyle/>
          <a:p>
            <a:pPr marL="0" indent="0" algn="ctr">
              <a:buNone/>
            </a:pPr>
            <a:r>
              <a:rPr lang="en-US" sz="560" b="1" dirty="0">
                <a:solidFill>
                  <a:srgbClr val="00FF57"/>
                </a:solidFill>
                <a:latin typeface="Aptos Mono" pitchFamily="34" charset="0"/>
                <a:ea typeface="Aptos Mono" pitchFamily="34" charset="-122"/>
                <a:cs typeface="Aptos Mono" pitchFamily="34" charset="-120"/>
              </a:rPr>
              <a:t>FRAMEWORK MAP</a:t>
            </a:r>
            <a:endParaRPr lang="en-US" sz="560" dirty="0"/>
          </a:p>
        </p:txBody>
      </p:sp>
      <p:sp>
        <p:nvSpPr>
          <p:cNvPr id="112" name="Text 110"/>
          <p:cNvSpPr/>
          <p:nvPr/>
        </p:nvSpPr>
        <p:spPr>
          <a:xfrm>
            <a:off x="6135624" y="3749040"/>
            <a:ext cx="1069848" cy="146304"/>
          </a:xfrm>
          <a:prstGeom prst="rect">
            <a:avLst/>
          </a:prstGeom>
          <a:noFill/>
          <a:ln/>
        </p:spPr>
        <p:txBody>
          <a:bodyPr wrap="square" lIns="381" tIns="381" rIns="381" bIns="381" rtlCol="0" anchor="t">
            <a:normAutofit/>
          </a:bodyPr>
          <a:lstStyle/>
          <a:p>
            <a:pPr marL="0" indent="0" algn="ctr">
              <a:buNone/>
            </a:pPr>
            <a:r>
              <a:rPr lang="en-US" sz="700" dirty="0">
                <a:solidFill>
                  <a:srgbClr val="C9D4CC"/>
                </a:solidFill>
                <a:latin typeface="Aptos" pitchFamily="34" charset="0"/>
                <a:ea typeface="Aptos" pitchFamily="34" charset="-122"/>
                <a:cs typeface="Aptos" pitchFamily="34" charset="-120"/>
              </a:rPr>
              <a:t>ATT&amp;CK + D3FEND + NIST</a:t>
            </a:r>
            <a:endParaRPr lang="en-US" sz="700" dirty="0"/>
          </a:p>
        </p:txBody>
      </p:sp>
      <p:sp>
        <p:nvSpPr>
          <p:cNvPr id="113" name="Shape 111"/>
          <p:cNvSpPr/>
          <p:nvPr/>
        </p:nvSpPr>
        <p:spPr>
          <a:xfrm>
            <a:off x="7324344" y="3520440"/>
            <a:ext cx="128016" cy="173736"/>
          </a:xfrm>
          <a:prstGeom prst="chevron">
            <a:avLst/>
          </a:prstGeom>
          <a:solidFill>
            <a:srgbClr val="00FF57"/>
          </a:solidFill>
          <a:ln w="12700">
            <a:solidFill>
              <a:srgbClr val="00FF57"/>
            </a:solidFill>
            <a:prstDash val="solid"/>
          </a:ln>
        </p:spPr>
        <p:txBody>
          <a:bodyPr/>
          <a:lstStyle/>
          <a:p>
            <a:endParaRPr lang="en-US"/>
          </a:p>
        </p:txBody>
      </p:sp>
      <p:sp>
        <p:nvSpPr>
          <p:cNvPr id="114" name="Shape 112"/>
          <p:cNvSpPr/>
          <p:nvPr/>
        </p:nvSpPr>
        <p:spPr>
          <a:xfrm>
            <a:off x="7452360" y="3246120"/>
            <a:ext cx="1252728" cy="713232"/>
          </a:xfrm>
          <a:prstGeom prst="roundRect">
            <a:avLst>
              <a:gd name="adj" fmla="val 10256"/>
            </a:avLst>
          </a:prstGeom>
          <a:solidFill>
            <a:srgbClr val="020904"/>
          </a:solidFill>
          <a:ln w="10160">
            <a:solidFill>
              <a:srgbClr val="00FF57">
                <a:alpha val="92000"/>
              </a:srgbClr>
            </a:solidFill>
            <a:prstDash val="solid"/>
          </a:ln>
        </p:spPr>
        <p:txBody>
          <a:bodyPr/>
          <a:lstStyle/>
          <a:p>
            <a:endParaRPr lang="en-US"/>
          </a:p>
        </p:txBody>
      </p:sp>
      <p:sp>
        <p:nvSpPr>
          <p:cNvPr id="115" name="Shape 113"/>
          <p:cNvSpPr/>
          <p:nvPr/>
        </p:nvSpPr>
        <p:spPr>
          <a:xfrm>
            <a:off x="7525512" y="3328416"/>
            <a:ext cx="228600" cy="228600"/>
          </a:xfrm>
          <a:prstGeom prst="ellipse">
            <a:avLst/>
          </a:prstGeom>
          <a:solidFill>
            <a:srgbClr val="00FF57"/>
          </a:solidFill>
          <a:ln w="3810">
            <a:solidFill>
              <a:srgbClr val="00FF57"/>
            </a:solidFill>
            <a:prstDash val="solid"/>
          </a:ln>
        </p:spPr>
        <p:txBody>
          <a:bodyPr/>
          <a:lstStyle/>
          <a:p>
            <a:endParaRPr lang="en-US"/>
          </a:p>
        </p:txBody>
      </p:sp>
      <p:sp>
        <p:nvSpPr>
          <p:cNvPr id="116" name="Text 114"/>
          <p:cNvSpPr/>
          <p:nvPr/>
        </p:nvSpPr>
        <p:spPr>
          <a:xfrm>
            <a:off x="7594092" y="3369564"/>
            <a:ext cx="91440" cy="91440"/>
          </a:xfrm>
          <a:prstGeom prst="rect">
            <a:avLst/>
          </a:prstGeom>
          <a:noFill/>
          <a:ln/>
        </p:spPr>
        <p:txBody>
          <a:bodyPr wrap="square" lIns="381" tIns="381" rIns="381" bIns="381" rtlCol="0" anchor="t">
            <a:normAutofit lnSpcReduction="10000"/>
          </a:bodyPr>
          <a:lstStyle/>
          <a:p>
            <a:pPr marL="0" indent="0" algn="ctr">
              <a:buNone/>
            </a:pPr>
            <a:r>
              <a:rPr lang="en-US" sz="600" b="1" dirty="0">
                <a:solidFill>
                  <a:srgbClr val="001707"/>
                </a:solidFill>
                <a:latin typeface="Aptos Mono" pitchFamily="34" charset="0"/>
                <a:ea typeface="Aptos Mono" pitchFamily="34" charset="-122"/>
                <a:cs typeface="Aptos Mono" pitchFamily="34" charset="-120"/>
              </a:rPr>
              <a:t>6</a:t>
            </a:r>
            <a:endParaRPr lang="en-US" sz="600" dirty="0"/>
          </a:p>
        </p:txBody>
      </p:sp>
      <p:sp>
        <p:nvSpPr>
          <p:cNvPr id="117" name="Text 115"/>
          <p:cNvSpPr/>
          <p:nvPr/>
        </p:nvSpPr>
        <p:spPr>
          <a:xfrm>
            <a:off x="7543800" y="3602736"/>
            <a:ext cx="1069848" cy="118872"/>
          </a:xfrm>
          <a:prstGeom prst="rect">
            <a:avLst/>
          </a:prstGeom>
          <a:noFill/>
          <a:ln/>
        </p:spPr>
        <p:txBody>
          <a:bodyPr wrap="square" lIns="381" tIns="381" rIns="381" bIns="381" rtlCol="0" anchor="t">
            <a:normAutofit/>
          </a:bodyPr>
          <a:lstStyle/>
          <a:p>
            <a:pPr marL="0" indent="0" algn="ctr">
              <a:buNone/>
            </a:pPr>
            <a:r>
              <a:rPr lang="en-US" sz="560" b="1" dirty="0">
                <a:solidFill>
                  <a:srgbClr val="00FF57"/>
                </a:solidFill>
                <a:latin typeface="Aptos Mono" pitchFamily="34" charset="0"/>
                <a:ea typeface="Aptos Mono" pitchFamily="34" charset="-122"/>
                <a:cs typeface="Aptos Mono" pitchFamily="34" charset="-120"/>
              </a:rPr>
              <a:t>EXPORT</a:t>
            </a:r>
            <a:endParaRPr lang="en-US" sz="560" dirty="0"/>
          </a:p>
        </p:txBody>
      </p:sp>
      <p:sp>
        <p:nvSpPr>
          <p:cNvPr id="118" name="Text 116"/>
          <p:cNvSpPr/>
          <p:nvPr/>
        </p:nvSpPr>
        <p:spPr>
          <a:xfrm>
            <a:off x="7543800" y="3749040"/>
            <a:ext cx="1069848" cy="146304"/>
          </a:xfrm>
          <a:prstGeom prst="rect">
            <a:avLst/>
          </a:prstGeom>
          <a:noFill/>
          <a:ln/>
        </p:spPr>
        <p:txBody>
          <a:bodyPr wrap="square" lIns="381" tIns="381" rIns="381" bIns="381" rtlCol="0" anchor="t">
            <a:normAutofit/>
          </a:bodyPr>
          <a:lstStyle/>
          <a:p>
            <a:pPr marL="0" indent="0" algn="ctr">
              <a:buNone/>
            </a:pPr>
            <a:r>
              <a:rPr lang="en-US" sz="700" dirty="0">
                <a:solidFill>
                  <a:srgbClr val="C9D4CC"/>
                </a:solidFill>
                <a:latin typeface="Aptos" pitchFamily="34" charset="0"/>
                <a:ea typeface="Aptos" pitchFamily="34" charset="-122"/>
                <a:cs typeface="Aptos" pitchFamily="34" charset="-120"/>
              </a:rPr>
              <a:t>Dashboard, STIX, Splunk</a:t>
            </a:r>
            <a:endParaRPr lang="en-US" sz="700" dirty="0"/>
          </a:p>
        </p:txBody>
      </p:sp>
      <p:sp>
        <p:nvSpPr>
          <p:cNvPr id="119" name="Text 117"/>
          <p:cNvSpPr/>
          <p:nvPr/>
        </p:nvSpPr>
        <p:spPr>
          <a:xfrm>
            <a:off x="457200" y="4041648"/>
            <a:ext cx="8183880" cy="146304"/>
          </a:xfrm>
          <a:prstGeom prst="rect">
            <a:avLst/>
          </a:prstGeom>
          <a:noFill/>
          <a:ln/>
        </p:spPr>
        <p:txBody>
          <a:bodyPr wrap="square" lIns="381" tIns="381" rIns="381" bIns="381" rtlCol="0" anchor="t">
            <a:normAutofit/>
          </a:bodyPr>
          <a:lstStyle/>
          <a:p>
            <a:pPr marL="0" indent="0" algn="ctr">
              <a:buNone/>
            </a:pPr>
            <a:r>
              <a:rPr lang="en-US" sz="620" b="1" dirty="0">
                <a:solidFill>
                  <a:srgbClr val="EAF9EE"/>
                </a:solidFill>
                <a:latin typeface="Aptos Mono" pitchFamily="34" charset="0"/>
                <a:ea typeface="Aptos Mono" pitchFamily="34" charset="-122"/>
                <a:cs typeface="Aptos Mono" pitchFamily="34" charset="-120"/>
              </a:rPr>
              <a:t>OUTPUT: ATT&amp;CK techniques · CVSS severity · D3FEND/NIST/OWASP controls · mitigation playbooks · exportable reports</a:t>
            </a:r>
            <a:endParaRPr lang="en-US" sz="620" dirty="0"/>
          </a:p>
        </p:txBody>
      </p:sp>
      <p:sp>
        <p:nvSpPr>
          <p:cNvPr id="120" name="Shape 118"/>
          <p:cNvSpPr/>
          <p:nvPr/>
        </p:nvSpPr>
        <p:spPr>
          <a:xfrm>
            <a:off x="201168" y="4462272"/>
            <a:ext cx="2788920" cy="1353312"/>
          </a:xfrm>
          <a:prstGeom prst="roundRect">
            <a:avLst>
              <a:gd name="adj" fmla="val 4054"/>
            </a:avLst>
          </a:prstGeom>
          <a:solidFill>
            <a:srgbClr val="07120A"/>
          </a:solidFill>
          <a:ln w="9525">
            <a:solidFill>
              <a:srgbClr val="00C447">
                <a:alpha val="90000"/>
              </a:srgbClr>
            </a:solidFill>
            <a:prstDash val="solid"/>
          </a:ln>
        </p:spPr>
        <p:txBody>
          <a:bodyPr/>
          <a:lstStyle/>
          <a:p>
            <a:endParaRPr lang="en-US"/>
          </a:p>
        </p:txBody>
      </p:sp>
      <p:sp>
        <p:nvSpPr>
          <p:cNvPr id="121" name="Shape 119"/>
          <p:cNvSpPr/>
          <p:nvPr/>
        </p:nvSpPr>
        <p:spPr>
          <a:xfrm>
            <a:off x="201168" y="4462272"/>
            <a:ext cx="2788920" cy="201168"/>
          </a:xfrm>
          <a:prstGeom prst="rect">
            <a:avLst/>
          </a:prstGeom>
          <a:solidFill>
            <a:srgbClr val="00FF57">
              <a:alpha val="95000"/>
            </a:srgbClr>
          </a:solidFill>
          <a:ln w="12700">
            <a:solidFill>
              <a:srgbClr val="00FF57"/>
            </a:solidFill>
            <a:prstDash val="solid"/>
          </a:ln>
        </p:spPr>
        <p:txBody>
          <a:bodyPr/>
          <a:lstStyle/>
          <a:p>
            <a:endParaRPr lang="en-US"/>
          </a:p>
        </p:txBody>
      </p:sp>
      <p:sp>
        <p:nvSpPr>
          <p:cNvPr id="122" name="Text 120"/>
          <p:cNvSpPr/>
          <p:nvPr/>
        </p:nvSpPr>
        <p:spPr>
          <a:xfrm>
            <a:off x="274320" y="4494276"/>
            <a:ext cx="2642616" cy="128016"/>
          </a:xfrm>
          <a:prstGeom prst="rect">
            <a:avLst/>
          </a:prstGeom>
          <a:noFill/>
          <a:ln/>
        </p:spPr>
        <p:txBody>
          <a:bodyPr wrap="square" lIns="381" tIns="381" rIns="381" bIns="381" rtlCol="0" anchor="t">
            <a:noAutofit/>
          </a:bodyPr>
          <a:lstStyle/>
          <a:p>
            <a:pPr marL="0" indent="0" algn="l">
              <a:buNone/>
            </a:pPr>
            <a:r>
              <a:rPr lang="en-US" sz="1000" b="1" dirty="0">
                <a:solidFill>
                  <a:srgbClr val="001707"/>
                </a:solidFill>
                <a:latin typeface="Aptos Mono" pitchFamily="34" charset="0"/>
                <a:ea typeface="Aptos Mono" pitchFamily="34" charset="-122"/>
                <a:cs typeface="Aptos Mono" pitchFamily="34" charset="-120"/>
              </a:rPr>
              <a:t>TECHNOLOGIES &amp; TOOLS</a:t>
            </a:r>
            <a:endParaRPr lang="en-US" sz="1000" dirty="0"/>
          </a:p>
        </p:txBody>
      </p:sp>
      <p:sp>
        <p:nvSpPr>
          <p:cNvPr id="123" name="Shape 121"/>
          <p:cNvSpPr/>
          <p:nvPr/>
        </p:nvSpPr>
        <p:spPr>
          <a:xfrm>
            <a:off x="347472" y="4727448"/>
            <a:ext cx="731520" cy="164592"/>
          </a:xfrm>
          <a:prstGeom prst="roundRect">
            <a:avLst>
              <a:gd name="adj" fmla="val 27778"/>
            </a:avLst>
          </a:prstGeom>
          <a:solidFill>
            <a:srgbClr val="001B0A"/>
          </a:solidFill>
          <a:ln w="5715">
            <a:solidFill>
              <a:srgbClr val="00FF57">
                <a:alpha val="80000"/>
              </a:srgbClr>
            </a:solidFill>
            <a:prstDash val="solid"/>
          </a:ln>
        </p:spPr>
        <p:txBody>
          <a:bodyPr/>
          <a:lstStyle/>
          <a:p>
            <a:endParaRPr lang="en-US"/>
          </a:p>
        </p:txBody>
      </p:sp>
      <p:sp>
        <p:nvSpPr>
          <p:cNvPr id="124" name="Text 122"/>
          <p:cNvSpPr/>
          <p:nvPr/>
        </p:nvSpPr>
        <p:spPr>
          <a:xfrm>
            <a:off x="374904" y="4764024"/>
            <a:ext cx="676656" cy="73152"/>
          </a:xfrm>
          <a:prstGeom prst="rect">
            <a:avLst/>
          </a:prstGeom>
          <a:noFill/>
          <a:ln/>
        </p:spPr>
        <p:txBody>
          <a:bodyPr wrap="square" lIns="381" tIns="381" rIns="381" bIns="381" rtlCol="0" anchor="t">
            <a:normAutofit/>
          </a:bodyPr>
          <a:lstStyle/>
          <a:p>
            <a:pPr marL="0" indent="0" algn="ctr">
              <a:buNone/>
            </a:pPr>
            <a:r>
              <a:rPr lang="en-US" sz="450" b="1" dirty="0">
                <a:solidFill>
                  <a:srgbClr val="00FF57"/>
                </a:solidFill>
                <a:latin typeface="Aptos Mono" pitchFamily="34" charset="0"/>
                <a:ea typeface="Aptos Mono" pitchFamily="34" charset="-122"/>
                <a:cs typeface="Aptos Mono" pitchFamily="34" charset="-120"/>
              </a:rPr>
              <a:t>React</a:t>
            </a:r>
            <a:endParaRPr lang="en-US" sz="450" dirty="0"/>
          </a:p>
        </p:txBody>
      </p:sp>
      <p:sp>
        <p:nvSpPr>
          <p:cNvPr id="125" name="Shape 123"/>
          <p:cNvSpPr/>
          <p:nvPr/>
        </p:nvSpPr>
        <p:spPr>
          <a:xfrm>
            <a:off x="1197864" y="4727448"/>
            <a:ext cx="731520" cy="164592"/>
          </a:xfrm>
          <a:prstGeom prst="roundRect">
            <a:avLst>
              <a:gd name="adj" fmla="val 27778"/>
            </a:avLst>
          </a:prstGeom>
          <a:solidFill>
            <a:srgbClr val="001B0A"/>
          </a:solidFill>
          <a:ln w="5715">
            <a:solidFill>
              <a:srgbClr val="00FF57">
                <a:alpha val="80000"/>
              </a:srgbClr>
            </a:solidFill>
            <a:prstDash val="solid"/>
          </a:ln>
        </p:spPr>
        <p:txBody>
          <a:bodyPr/>
          <a:lstStyle/>
          <a:p>
            <a:endParaRPr lang="en-US"/>
          </a:p>
        </p:txBody>
      </p:sp>
      <p:sp>
        <p:nvSpPr>
          <p:cNvPr id="126" name="Text 124"/>
          <p:cNvSpPr/>
          <p:nvPr/>
        </p:nvSpPr>
        <p:spPr>
          <a:xfrm>
            <a:off x="1225296" y="4764024"/>
            <a:ext cx="676656" cy="73152"/>
          </a:xfrm>
          <a:prstGeom prst="rect">
            <a:avLst/>
          </a:prstGeom>
          <a:noFill/>
          <a:ln/>
        </p:spPr>
        <p:txBody>
          <a:bodyPr wrap="square" lIns="381" tIns="381" rIns="381" bIns="381" rtlCol="0" anchor="t">
            <a:normAutofit/>
          </a:bodyPr>
          <a:lstStyle/>
          <a:p>
            <a:pPr marL="0" indent="0" algn="ctr">
              <a:buNone/>
            </a:pPr>
            <a:r>
              <a:rPr lang="en-US" sz="450" b="1" dirty="0">
                <a:solidFill>
                  <a:srgbClr val="00FF57"/>
                </a:solidFill>
                <a:latin typeface="Aptos Mono" pitchFamily="34" charset="0"/>
                <a:ea typeface="Aptos Mono" pitchFamily="34" charset="-122"/>
                <a:cs typeface="Aptos Mono" pitchFamily="34" charset="-120"/>
              </a:rPr>
              <a:t>FastAPI</a:t>
            </a:r>
            <a:endParaRPr lang="en-US" sz="450" dirty="0"/>
          </a:p>
        </p:txBody>
      </p:sp>
      <p:sp>
        <p:nvSpPr>
          <p:cNvPr id="127" name="Shape 125"/>
          <p:cNvSpPr/>
          <p:nvPr/>
        </p:nvSpPr>
        <p:spPr>
          <a:xfrm>
            <a:off x="2048256" y="4727448"/>
            <a:ext cx="731520" cy="164592"/>
          </a:xfrm>
          <a:prstGeom prst="roundRect">
            <a:avLst>
              <a:gd name="adj" fmla="val 27778"/>
            </a:avLst>
          </a:prstGeom>
          <a:solidFill>
            <a:srgbClr val="001B0A"/>
          </a:solidFill>
          <a:ln w="5715">
            <a:solidFill>
              <a:srgbClr val="00FF57">
                <a:alpha val="80000"/>
              </a:srgbClr>
            </a:solidFill>
            <a:prstDash val="solid"/>
          </a:ln>
        </p:spPr>
        <p:txBody>
          <a:bodyPr/>
          <a:lstStyle/>
          <a:p>
            <a:endParaRPr lang="en-US"/>
          </a:p>
        </p:txBody>
      </p:sp>
      <p:sp>
        <p:nvSpPr>
          <p:cNvPr id="128" name="Text 126"/>
          <p:cNvSpPr/>
          <p:nvPr/>
        </p:nvSpPr>
        <p:spPr>
          <a:xfrm>
            <a:off x="2075688" y="4764024"/>
            <a:ext cx="676656" cy="73152"/>
          </a:xfrm>
          <a:prstGeom prst="rect">
            <a:avLst/>
          </a:prstGeom>
          <a:noFill/>
          <a:ln/>
        </p:spPr>
        <p:txBody>
          <a:bodyPr wrap="square" lIns="381" tIns="381" rIns="381" bIns="381" rtlCol="0" anchor="t">
            <a:normAutofit/>
          </a:bodyPr>
          <a:lstStyle/>
          <a:p>
            <a:pPr marL="0" indent="0" algn="ctr">
              <a:buNone/>
            </a:pPr>
            <a:r>
              <a:rPr lang="en-US" sz="450" b="1" dirty="0">
                <a:solidFill>
                  <a:srgbClr val="00FF57"/>
                </a:solidFill>
                <a:latin typeface="Aptos Mono" pitchFamily="34" charset="0"/>
                <a:ea typeface="Aptos Mono" pitchFamily="34" charset="-122"/>
                <a:cs typeface="Aptos Mono" pitchFamily="34" charset="-120"/>
              </a:rPr>
              <a:t>Python</a:t>
            </a:r>
            <a:endParaRPr lang="en-US" sz="450" dirty="0"/>
          </a:p>
        </p:txBody>
      </p:sp>
      <p:sp>
        <p:nvSpPr>
          <p:cNvPr id="129" name="Shape 127"/>
          <p:cNvSpPr/>
          <p:nvPr/>
        </p:nvSpPr>
        <p:spPr>
          <a:xfrm>
            <a:off x="347472" y="4956048"/>
            <a:ext cx="731520" cy="164592"/>
          </a:xfrm>
          <a:prstGeom prst="roundRect">
            <a:avLst>
              <a:gd name="adj" fmla="val 27778"/>
            </a:avLst>
          </a:prstGeom>
          <a:solidFill>
            <a:srgbClr val="001B0A"/>
          </a:solidFill>
          <a:ln w="5715">
            <a:solidFill>
              <a:srgbClr val="00FF57">
                <a:alpha val="80000"/>
              </a:srgbClr>
            </a:solidFill>
            <a:prstDash val="solid"/>
          </a:ln>
        </p:spPr>
        <p:txBody>
          <a:bodyPr/>
          <a:lstStyle/>
          <a:p>
            <a:endParaRPr lang="en-US"/>
          </a:p>
        </p:txBody>
      </p:sp>
      <p:sp>
        <p:nvSpPr>
          <p:cNvPr id="130" name="Text 128"/>
          <p:cNvSpPr/>
          <p:nvPr/>
        </p:nvSpPr>
        <p:spPr>
          <a:xfrm>
            <a:off x="374904" y="4992624"/>
            <a:ext cx="676656" cy="73152"/>
          </a:xfrm>
          <a:prstGeom prst="rect">
            <a:avLst/>
          </a:prstGeom>
          <a:noFill/>
          <a:ln/>
        </p:spPr>
        <p:txBody>
          <a:bodyPr wrap="square" lIns="381" tIns="381" rIns="381" bIns="381" rtlCol="0" anchor="t">
            <a:normAutofit/>
          </a:bodyPr>
          <a:lstStyle/>
          <a:p>
            <a:pPr marL="0" indent="0" algn="ctr">
              <a:buNone/>
            </a:pPr>
            <a:r>
              <a:rPr lang="en-US" sz="450" b="1" dirty="0">
                <a:solidFill>
                  <a:srgbClr val="00FF57"/>
                </a:solidFill>
                <a:latin typeface="Aptos Mono" pitchFamily="34" charset="0"/>
                <a:ea typeface="Aptos Mono" pitchFamily="34" charset="-122"/>
                <a:cs typeface="Aptos Mono" pitchFamily="34" charset="-120"/>
              </a:rPr>
              <a:t>PyTorch</a:t>
            </a:r>
            <a:endParaRPr lang="en-US" sz="450" dirty="0"/>
          </a:p>
        </p:txBody>
      </p:sp>
      <p:sp>
        <p:nvSpPr>
          <p:cNvPr id="131" name="Shape 129"/>
          <p:cNvSpPr/>
          <p:nvPr/>
        </p:nvSpPr>
        <p:spPr>
          <a:xfrm>
            <a:off x="1197864" y="4956048"/>
            <a:ext cx="731520" cy="164592"/>
          </a:xfrm>
          <a:prstGeom prst="roundRect">
            <a:avLst>
              <a:gd name="adj" fmla="val 27778"/>
            </a:avLst>
          </a:prstGeom>
          <a:solidFill>
            <a:srgbClr val="001B0A"/>
          </a:solidFill>
          <a:ln w="5715">
            <a:solidFill>
              <a:srgbClr val="00FF57">
                <a:alpha val="80000"/>
              </a:srgbClr>
            </a:solidFill>
            <a:prstDash val="solid"/>
          </a:ln>
        </p:spPr>
        <p:txBody>
          <a:bodyPr/>
          <a:lstStyle/>
          <a:p>
            <a:endParaRPr lang="en-US"/>
          </a:p>
        </p:txBody>
      </p:sp>
      <p:sp>
        <p:nvSpPr>
          <p:cNvPr id="132" name="Text 130"/>
          <p:cNvSpPr/>
          <p:nvPr/>
        </p:nvSpPr>
        <p:spPr>
          <a:xfrm>
            <a:off x="1225296" y="4992624"/>
            <a:ext cx="676656" cy="73152"/>
          </a:xfrm>
          <a:prstGeom prst="rect">
            <a:avLst/>
          </a:prstGeom>
          <a:noFill/>
          <a:ln/>
        </p:spPr>
        <p:txBody>
          <a:bodyPr wrap="square" lIns="381" tIns="381" rIns="381" bIns="381" rtlCol="0" anchor="t">
            <a:normAutofit/>
          </a:bodyPr>
          <a:lstStyle/>
          <a:p>
            <a:pPr marL="0" indent="0" algn="ctr">
              <a:buNone/>
            </a:pPr>
            <a:r>
              <a:rPr lang="en-US" sz="450" b="1" dirty="0">
                <a:solidFill>
                  <a:srgbClr val="00FF57"/>
                </a:solidFill>
                <a:latin typeface="Aptos Mono" pitchFamily="34" charset="0"/>
                <a:ea typeface="Aptos Mono" pitchFamily="34" charset="-122"/>
                <a:cs typeface="Aptos Mono" pitchFamily="34" charset="-120"/>
              </a:rPr>
              <a:t>SecureBERT</a:t>
            </a:r>
            <a:endParaRPr lang="en-US" sz="450" dirty="0"/>
          </a:p>
        </p:txBody>
      </p:sp>
      <p:sp>
        <p:nvSpPr>
          <p:cNvPr id="133" name="Shape 131"/>
          <p:cNvSpPr/>
          <p:nvPr/>
        </p:nvSpPr>
        <p:spPr>
          <a:xfrm>
            <a:off x="2048256" y="4956048"/>
            <a:ext cx="731520" cy="164592"/>
          </a:xfrm>
          <a:prstGeom prst="roundRect">
            <a:avLst>
              <a:gd name="adj" fmla="val 27778"/>
            </a:avLst>
          </a:prstGeom>
          <a:solidFill>
            <a:srgbClr val="001B0A"/>
          </a:solidFill>
          <a:ln w="5715">
            <a:solidFill>
              <a:srgbClr val="00FF57">
                <a:alpha val="80000"/>
              </a:srgbClr>
            </a:solidFill>
            <a:prstDash val="solid"/>
          </a:ln>
        </p:spPr>
        <p:txBody>
          <a:bodyPr/>
          <a:lstStyle/>
          <a:p>
            <a:endParaRPr lang="en-US"/>
          </a:p>
        </p:txBody>
      </p:sp>
      <p:sp>
        <p:nvSpPr>
          <p:cNvPr id="134" name="Text 132"/>
          <p:cNvSpPr/>
          <p:nvPr/>
        </p:nvSpPr>
        <p:spPr>
          <a:xfrm>
            <a:off x="2075688" y="4992624"/>
            <a:ext cx="676656" cy="73152"/>
          </a:xfrm>
          <a:prstGeom prst="rect">
            <a:avLst/>
          </a:prstGeom>
          <a:noFill/>
          <a:ln/>
        </p:spPr>
        <p:txBody>
          <a:bodyPr wrap="square" lIns="381" tIns="381" rIns="381" bIns="381" rtlCol="0" anchor="t">
            <a:normAutofit/>
          </a:bodyPr>
          <a:lstStyle/>
          <a:p>
            <a:pPr marL="0" indent="0" algn="ctr">
              <a:buNone/>
            </a:pPr>
            <a:r>
              <a:rPr lang="en-US" sz="450" b="1" dirty="0">
                <a:solidFill>
                  <a:srgbClr val="00FF57"/>
                </a:solidFill>
                <a:latin typeface="Aptos Mono" pitchFamily="34" charset="0"/>
                <a:ea typeface="Aptos Mono" pitchFamily="34" charset="-122"/>
                <a:cs typeface="Aptos Mono" pitchFamily="34" charset="-120"/>
              </a:rPr>
              <a:t>MPNet</a:t>
            </a:r>
            <a:endParaRPr lang="en-US" sz="450" dirty="0"/>
          </a:p>
        </p:txBody>
      </p:sp>
      <p:sp>
        <p:nvSpPr>
          <p:cNvPr id="135" name="Shape 133"/>
          <p:cNvSpPr/>
          <p:nvPr/>
        </p:nvSpPr>
        <p:spPr>
          <a:xfrm>
            <a:off x="347472" y="5184648"/>
            <a:ext cx="731520" cy="164592"/>
          </a:xfrm>
          <a:prstGeom prst="roundRect">
            <a:avLst>
              <a:gd name="adj" fmla="val 27778"/>
            </a:avLst>
          </a:prstGeom>
          <a:solidFill>
            <a:srgbClr val="001B0A"/>
          </a:solidFill>
          <a:ln w="5715">
            <a:solidFill>
              <a:srgbClr val="00FF57">
                <a:alpha val="80000"/>
              </a:srgbClr>
            </a:solidFill>
            <a:prstDash val="solid"/>
          </a:ln>
        </p:spPr>
        <p:txBody>
          <a:bodyPr/>
          <a:lstStyle/>
          <a:p>
            <a:endParaRPr lang="en-US"/>
          </a:p>
        </p:txBody>
      </p:sp>
      <p:sp>
        <p:nvSpPr>
          <p:cNvPr id="136" name="Text 134"/>
          <p:cNvSpPr/>
          <p:nvPr/>
        </p:nvSpPr>
        <p:spPr>
          <a:xfrm>
            <a:off x="374904" y="5221224"/>
            <a:ext cx="676656" cy="73152"/>
          </a:xfrm>
          <a:prstGeom prst="rect">
            <a:avLst/>
          </a:prstGeom>
          <a:noFill/>
          <a:ln/>
        </p:spPr>
        <p:txBody>
          <a:bodyPr wrap="square" lIns="381" tIns="381" rIns="381" bIns="381" rtlCol="0" anchor="t">
            <a:normAutofit/>
          </a:bodyPr>
          <a:lstStyle/>
          <a:p>
            <a:pPr marL="0" indent="0" algn="ctr">
              <a:buNone/>
            </a:pPr>
            <a:r>
              <a:rPr lang="en-US" sz="450" b="1" dirty="0">
                <a:solidFill>
                  <a:srgbClr val="00FF57"/>
                </a:solidFill>
                <a:latin typeface="Aptos Mono" pitchFamily="34" charset="0"/>
                <a:ea typeface="Aptos Mono" pitchFamily="34" charset="-122"/>
                <a:cs typeface="Aptos Mono" pitchFamily="34" charset="-120"/>
              </a:rPr>
              <a:t>XGBoost</a:t>
            </a:r>
            <a:endParaRPr lang="en-US" sz="450" dirty="0"/>
          </a:p>
        </p:txBody>
      </p:sp>
      <p:sp>
        <p:nvSpPr>
          <p:cNvPr id="137" name="Shape 135"/>
          <p:cNvSpPr/>
          <p:nvPr/>
        </p:nvSpPr>
        <p:spPr>
          <a:xfrm>
            <a:off x="1197864" y="5184648"/>
            <a:ext cx="731520" cy="164592"/>
          </a:xfrm>
          <a:prstGeom prst="roundRect">
            <a:avLst>
              <a:gd name="adj" fmla="val 27778"/>
            </a:avLst>
          </a:prstGeom>
          <a:solidFill>
            <a:srgbClr val="001B0A"/>
          </a:solidFill>
          <a:ln w="5715">
            <a:solidFill>
              <a:srgbClr val="00FF57">
                <a:alpha val="80000"/>
              </a:srgbClr>
            </a:solidFill>
            <a:prstDash val="solid"/>
          </a:ln>
        </p:spPr>
        <p:txBody>
          <a:bodyPr/>
          <a:lstStyle/>
          <a:p>
            <a:endParaRPr lang="en-US"/>
          </a:p>
        </p:txBody>
      </p:sp>
      <p:sp>
        <p:nvSpPr>
          <p:cNvPr id="138" name="Text 136"/>
          <p:cNvSpPr/>
          <p:nvPr/>
        </p:nvSpPr>
        <p:spPr>
          <a:xfrm>
            <a:off x="1225296" y="5221224"/>
            <a:ext cx="676656" cy="73152"/>
          </a:xfrm>
          <a:prstGeom prst="rect">
            <a:avLst/>
          </a:prstGeom>
          <a:noFill/>
          <a:ln/>
        </p:spPr>
        <p:txBody>
          <a:bodyPr wrap="square" lIns="381" tIns="381" rIns="381" bIns="381" rtlCol="0" anchor="t">
            <a:normAutofit/>
          </a:bodyPr>
          <a:lstStyle/>
          <a:p>
            <a:pPr marL="0" indent="0" algn="ctr">
              <a:buNone/>
            </a:pPr>
            <a:r>
              <a:rPr lang="en-US" sz="450" b="1" dirty="0">
                <a:solidFill>
                  <a:srgbClr val="00FF57"/>
                </a:solidFill>
                <a:latin typeface="Aptos Mono" pitchFamily="34" charset="0"/>
                <a:ea typeface="Aptos Mono" pitchFamily="34" charset="-122"/>
                <a:cs typeface="Aptos Mono" pitchFamily="34" charset="-120"/>
              </a:rPr>
              <a:t>SQLite</a:t>
            </a:r>
            <a:endParaRPr lang="en-US" sz="450" dirty="0"/>
          </a:p>
        </p:txBody>
      </p:sp>
      <p:sp>
        <p:nvSpPr>
          <p:cNvPr id="139" name="Shape 137"/>
          <p:cNvSpPr/>
          <p:nvPr/>
        </p:nvSpPr>
        <p:spPr>
          <a:xfrm>
            <a:off x="2048256" y="5184648"/>
            <a:ext cx="731520" cy="164592"/>
          </a:xfrm>
          <a:prstGeom prst="roundRect">
            <a:avLst>
              <a:gd name="adj" fmla="val 27778"/>
            </a:avLst>
          </a:prstGeom>
          <a:solidFill>
            <a:srgbClr val="001B0A"/>
          </a:solidFill>
          <a:ln w="5715">
            <a:solidFill>
              <a:srgbClr val="00FF57">
                <a:alpha val="80000"/>
              </a:srgbClr>
            </a:solidFill>
            <a:prstDash val="solid"/>
          </a:ln>
        </p:spPr>
        <p:txBody>
          <a:bodyPr/>
          <a:lstStyle/>
          <a:p>
            <a:endParaRPr lang="en-US"/>
          </a:p>
        </p:txBody>
      </p:sp>
      <p:sp>
        <p:nvSpPr>
          <p:cNvPr id="140" name="Text 138"/>
          <p:cNvSpPr/>
          <p:nvPr/>
        </p:nvSpPr>
        <p:spPr>
          <a:xfrm>
            <a:off x="2075688" y="5221224"/>
            <a:ext cx="676656" cy="73152"/>
          </a:xfrm>
          <a:prstGeom prst="rect">
            <a:avLst/>
          </a:prstGeom>
          <a:noFill/>
          <a:ln/>
        </p:spPr>
        <p:txBody>
          <a:bodyPr wrap="square" lIns="381" tIns="381" rIns="381" bIns="381" rtlCol="0" anchor="t">
            <a:normAutofit/>
          </a:bodyPr>
          <a:lstStyle/>
          <a:p>
            <a:pPr marL="0" indent="0" algn="ctr">
              <a:buNone/>
            </a:pPr>
            <a:r>
              <a:rPr lang="en-US" sz="450" b="1" dirty="0">
                <a:solidFill>
                  <a:srgbClr val="00FF57"/>
                </a:solidFill>
                <a:latin typeface="Aptos Mono" pitchFamily="34" charset="0"/>
                <a:ea typeface="Aptos Mono" pitchFamily="34" charset="-122"/>
                <a:cs typeface="Aptos Mono" pitchFamily="34" charset="-120"/>
              </a:rPr>
              <a:t>Scapy</a:t>
            </a:r>
            <a:endParaRPr lang="en-US" sz="450" dirty="0"/>
          </a:p>
        </p:txBody>
      </p:sp>
      <p:sp>
        <p:nvSpPr>
          <p:cNvPr id="141" name="Shape 139"/>
          <p:cNvSpPr/>
          <p:nvPr/>
        </p:nvSpPr>
        <p:spPr>
          <a:xfrm>
            <a:off x="347472" y="5413248"/>
            <a:ext cx="731520" cy="164592"/>
          </a:xfrm>
          <a:prstGeom prst="roundRect">
            <a:avLst>
              <a:gd name="adj" fmla="val 27778"/>
            </a:avLst>
          </a:prstGeom>
          <a:solidFill>
            <a:srgbClr val="001B0A"/>
          </a:solidFill>
          <a:ln w="5715">
            <a:solidFill>
              <a:srgbClr val="00FF57">
                <a:alpha val="80000"/>
              </a:srgbClr>
            </a:solidFill>
            <a:prstDash val="solid"/>
          </a:ln>
        </p:spPr>
        <p:txBody>
          <a:bodyPr/>
          <a:lstStyle/>
          <a:p>
            <a:endParaRPr lang="en-US"/>
          </a:p>
        </p:txBody>
      </p:sp>
      <p:sp>
        <p:nvSpPr>
          <p:cNvPr id="142" name="Text 140"/>
          <p:cNvSpPr/>
          <p:nvPr/>
        </p:nvSpPr>
        <p:spPr>
          <a:xfrm>
            <a:off x="374904" y="5449824"/>
            <a:ext cx="676656" cy="73152"/>
          </a:xfrm>
          <a:prstGeom prst="rect">
            <a:avLst/>
          </a:prstGeom>
          <a:noFill/>
          <a:ln/>
        </p:spPr>
        <p:txBody>
          <a:bodyPr wrap="square" lIns="381" tIns="381" rIns="381" bIns="381" rtlCol="0" anchor="t">
            <a:normAutofit/>
          </a:bodyPr>
          <a:lstStyle/>
          <a:p>
            <a:pPr marL="0" indent="0" algn="ctr">
              <a:buNone/>
            </a:pPr>
            <a:r>
              <a:rPr lang="en-US" sz="450" b="1" dirty="0">
                <a:solidFill>
                  <a:srgbClr val="00FF57"/>
                </a:solidFill>
                <a:latin typeface="Aptos Mono" pitchFamily="34" charset="0"/>
                <a:ea typeface="Aptos Mono" pitchFamily="34" charset="-122"/>
                <a:cs typeface="Aptos Mono" pitchFamily="34" charset="-120"/>
              </a:rPr>
              <a:t>STIX</a:t>
            </a:r>
            <a:endParaRPr lang="en-US" sz="450" dirty="0"/>
          </a:p>
        </p:txBody>
      </p:sp>
      <p:sp>
        <p:nvSpPr>
          <p:cNvPr id="143" name="Shape 141"/>
          <p:cNvSpPr/>
          <p:nvPr/>
        </p:nvSpPr>
        <p:spPr>
          <a:xfrm>
            <a:off x="1197864" y="5413248"/>
            <a:ext cx="731520" cy="164592"/>
          </a:xfrm>
          <a:prstGeom prst="roundRect">
            <a:avLst>
              <a:gd name="adj" fmla="val 27778"/>
            </a:avLst>
          </a:prstGeom>
          <a:solidFill>
            <a:srgbClr val="001B0A"/>
          </a:solidFill>
          <a:ln w="5715">
            <a:solidFill>
              <a:srgbClr val="00FF57">
                <a:alpha val="80000"/>
              </a:srgbClr>
            </a:solidFill>
            <a:prstDash val="solid"/>
          </a:ln>
        </p:spPr>
        <p:txBody>
          <a:bodyPr/>
          <a:lstStyle/>
          <a:p>
            <a:endParaRPr lang="en-US"/>
          </a:p>
        </p:txBody>
      </p:sp>
      <p:sp>
        <p:nvSpPr>
          <p:cNvPr id="144" name="Text 142"/>
          <p:cNvSpPr/>
          <p:nvPr/>
        </p:nvSpPr>
        <p:spPr>
          <a:xfrm>
            <a:off x="1225296" y="5449824"/>
            <a:ext cx="676656" cy="73152"/>
          </a:xfrm>
          <a:prstGeom prst="rect">
            <a:avLst/>
          </a:prstGeom>
          <a:noFill/>
          <a:ln/>
        </p:spPr>
        <p:txBody>
          <a:bodyPr wrap="square" lIns="381" tIns="381" rIns="381" bIns="381" rtlCol="0" anchor="t">
            <a:normAutofit/>
          </a:bodyPr>
          <a:lstStyle/>
          <a:p>
            <a:pPr marL="0" indent="0" algn="ctr">
              <a:buNone/>
            </a:pPr>
            <a:r>
              <a:rPr lang="en-US" sz="450" b="1" dirty="0">
                <a:solidFill>
                  <a:srgbClr val="00FF57"/>
                </a:solidFill>
                <a:latin typeface="Aptos Mono" pitchFamily="34" charset="0"/>
                <a:ea typeface="Aptos Mono" pitchFamily="34" charset="-122"/>
                <a:cs typeface="Aptos Mono" pitchFamily="34" charset="-120"/>
              </a:rPr>
              <a:t>Recharts</a:t>
            </a:r>
            <a:endParaRPr lang="en-US" sz="450" dirty="0"/>
          </a:p>
        </p:txBody>
      </p:sp>
      <p:sp>
        <p:nvSpPr>
          <p:cNvPr id="145" name="Shape 143"/>
          <p:cNvSpPr/>
          <p:nvPr/>
        </p:nvSpPr>
        <p:spPr>
          <a:xfrm>
            <a:off x="2048256" y="5413248"/>
            <a:ext cx="731520" cy="164592"/>
          </a:xfrm>
          <a:prstGeom prst="roundRect">
            <a:avLst>
              <a:gd name="adj" fmla="val 27778"/>
            </a:avLst>
          </a:prstGeom>
          <a:solidFill>
            <a:srgbClr val="001B0A"/>
          </a:solidFill>
          <a:ln w="5715">
            <a:solidFill>
              <a:srgbClr val="00FF57">
                <a:alpha val="80000"/>
              </a:srgbClr>
            </a:solidFill>
            <a:prstDash val="solid"/>
          </a:ln>
        </p:spPr>
        <p:txBody>
          <a:bodyPr/>
          <a:lstStyle/>
          <a:p>
            <a:endParaRPr lang="en-US"/>
          </a:p>
        </p:txBody>
      </p:sp>
      <p:sp>
        <p:nvSpPr>
          <p:cNvPr id="146" name="Text 144"/>
          <p:cNvSpPr/>
          <p:nvPr/>
        </p:nvSpPr>
        <p:spPr>
          <a:xfrm>
            <a:off x="2075688" y="5449824"/>
            <a:ext cx="676656" cy="73152"/>
          </a:xfrm>
          <a:prstGeom prst="rect">
            <a:avLst/>
          </a:prstGeom>
          <a:noFill/>
          <a:ln/>
        </p:spPr>
        <p:txBody>
          <a:bodyPr wrap="square" lIns="381" tIns="381" rIns="381" bIns="381" rtlCol="0" anchor="t">
            <a:normAutofit/>
          </a:bodyPr>
          <a:lstStyle/>
          <a:p>
            <a:pPr marL="0" indent="0" algn="ctr">
              <a:buNone/>
            </a:pPr>
            <a:r>
              <a:rPr lang="en-US" sz="450" b="1" dirty="0">
                <a:solidFill>
                  <a:srgbClr val="00FF57"/>
                </a:solidFill>
                <a:latin typeface="Aptos Mono" pitchFamily="34" charset="0"/>
                <a:ea typeface="Aptos Mono" pitchFamily="34" charset="-122"/>
                <a:cs typeface="Aptos Mono" pitchFamily="34" charset="-120"/>
              </a:rPr>
              <a:t>Splunk</a:t>
            </a:r>
            <a:endParaRPr lang="en-US" sz="450" dirty="0"/>
          </a:p>
        </p:txBody>
      </p:sp>
      <p:sp>
        <p:nvSpPr>
          <p:cNvPr id="147" name="Shape 145"/>
          <p:cNvSpPr/>
          <p:nvPr/>
        </p:nvSpPr>
        <p:spPr>
          <a:xfrm>
            <a:off x="3182112" y="4462272"/>
            <a:ext cx="2926080" cy="1353312"/>
          </a:xfrm>
          <a:prstGeom prst="roundRect">
            <a:avLst>
              <a:gd name="adj" fmla="val 4054"/>
            </a:avLst>
          </a:prstGeom>
          <a:solidFill>
            <a:srgbClr val="07120A"/>
          </a:solidFill>
          <a:ln w="9525">
            <a:solidFill>
              <a:srgbClr val="00C447">
                <a:alpha val="90000"/>
              </a:srgbClr>
            </a:solidFill>
            <a:prstDash val="solid"/>
          </a:ln>
        </p:spPr>
        <p:txBody>
          <a:bodyPr/>
          <a:lstStyle/>
          <a:p>
            <a:endParaRPr lang="en-US"/>
          </a:p>
        </p:txBody>
      </p:sp>
      <p:sp>
        <p:nvSpPr>
          <p:cNvPr id="148" name="Shape 146"/>
          <p:cNvSpPr/>
          <p:nvPr/>
        </p:nvSpPr>
        <p:spPr>
          <a:xfrm>
            <a:off x="3182112" y="4462272"/>
            <a:ext cx="2926080" cy="201168"/>
          </a:xfrm>
          <a:prstGeom prst="rect">
            <a:avLst/>
          </a:prstGeom>
          <a:solidFill>
            <a:srgbClr val="00FF57">
              <a:alpha val="95000"/>
            </a:srgbClr>
          </a:solidFill>
          <a:ln w="12700">
            <a:solidFill>
              <a:srgbClr val="00FF57"/>
            </a:solidFill>
            <a:prstDash val="solid"/>
          </a:ln>
        </p:spPr>
        <p:txBody>
          <a:bodyPr/>
          <a:lstStyle/>
          <a:p>
            <a:endParaRPr lang="en-US"/>
          </a:p>
        </p:txBody>
      </p:sp>
      <p:sp>
        <p:nvSpPr>
          <p:cNvPr id="149" name="Text 147"/>
          <p:cNvSpPr/>
          <p:nvPr/>
        </p:nvSpPr>
        <p:spPr>
          <a:xfrm>
            <a:off x="3255264" y="4494276"/>
            <a:ext cx="2779776" cy="128016"/>
          </a:xfrm>
          <a:prstGeom prst="rect">
            <a:avLst/>
          </a:prstGeom>
          <a:noFill/>
          <a:ln/>
        </p:spPr>
        <p:txBody>
          <a:bodyPr wrap="square" lIns="381" tIns="381" rIns="381" bIns="381" rtlCol="0" anchor="t">
            <a:noAutofit/>
          </a:bodyPr>
          <a:lstStyle/>
          <a:p>
            <a:pPr marL="0" indent="0" algn="l">
              <a:buNone/>
            </a:pPr>
            <a:r>
              <a:rPr lang="en-US" sz="1000" b="1" dirty="0">
                <a:solidFill>
                  <a:srgbClr val="001707"/>
                </a:solidFill>
                <a:latin typeface="Aptos Mono" pitchFamily="34" charset="0"/>
                <a:ea typeface="Aptos Mono" pitchFamily="34" charset="-122"/>
                <a:cs typeface="Aptos Mono" pitchFamily="34" charset="-120"/>
              </a:rPr>
              <a:t>RESULTS / EVALUATION</a:t>
            </a:r>
            <a:endParaRPr lang="en-US" sz="1000" dirty="0"/>
          </a:p>
        </p:txBody>
      </p:sp>
      <p:sp>
        <p:nvSpPr>
          <p:cNvPr id="150" name="Text 148"/>
          <p:cNvSpPr/>
          <p:nvPr/>
        </p:nvSpPr>
        <p:spPr>
          <a:xfrm>
            <a:off x="3227832" y="4754880"/>
            <a:ext cx="685800" cy="164592"/>
          </a:xfrm>
          <a:prstGeom prst="rect">
            <a:avLst/>
          </a:prstGeom>
          <a:noFill/>
          <a:ln/>
        </p:spPr>
        <p:txBody>
          <a:bodyPr wrap="square" lIns="381" tIns="381" rIns="381" bIns="381" rtlCol="0" anchor="t">
            <a:normAutofit fontScale="92500" lnSpcReduction="20000"/>
          </a:bodyPr>
          <a:lstStyle/>
          <a:p>
            <a:pPr marL="0" indent="0" algn="ctr">
              <a:buNone/>
            </a:pPr>
            <a:r>
              <a:rPr lang="en-US" sz="1300" b="1" dirty="0">
                <a:solidFill>
                  <a:srgbClr val="00FF57"/>
                </a:solidFill>
                <a:latin typeface="Aptos Display" pitchFamily="34" charset="0"/>
                <a:ea typeface="Aptos Display" pitchFamily="34" charset="-122"/>
                <a:cs typeface="Aptos Display" pitchFamily="34" charset="-120"/>
              </a:rPr>
              <a:t>96.65%</a:t>
            </a:r>
            <a:endParaRPr lang="en-US" sz="1300" dirty="0"/>
          </a:p>
        </p:txBody>
      </p:sp>
      <p:sp>
        <p:nvSpPr>
          <p:cNvPr id="151" name="Text 149"/>
          <p:cNvSpPr/>
          <p:nvPr/>
        </p:nvSpPr>
        <p:spPr>
          <a:xfrm>
            <a:off x="3894754" y="4769526"/>
            <a:ext cx="731520" cy="109728"/>
          </a:xfrm>
          <a:prstGeom prst="rect">
            <a:avLst/>
          </a:prstGeom>
          <a:noFill/>
          <a:ln/>
        </p:spPr>
        <p:txBody>
          <a:bodyPr wrap="square" lIns="381" tIns="381" rIns="381" bIns="381" rtlCol="0" anchor="t">
            <a:noAutofit/>
          </a:bodyPr>
          <a:lstStyle/>
          <a:p>
            <a:pPr marL="0" indent="0" algn="l">
              <a:buNone/>
            </a:pPr>
            <a:r>
              <a:rPr lang="en-US" sz="700" b="1" dirty="0">
                <a:solidFill>
                  <a:srgbClr val="C9D4CC"/>
                </a:solidFill>
                <a:latin typeface="Aptos" pitchFamily="34" charset="0"/>
                <a:ea typeface="Aptos" pitchFamily="34" charset="-122"/>
                <a:cs typeface="Aptos" pitchFamily="34" charset="-120"/>
              </a:rPr>
              <a:t>SecureBERT F1</a:t>
            </a:r>
            <a:endParaRPr lang="en-US" sz="700" dirty="0"/>
          </a:p>
        </p:txBody>
      </p:sp>
      <p:sp>
        <p:nvSpPr>
          <p:cNvPr id="152" name="Text 150"/>
          <p:cNvSpPr/>
          <p:nvPr/>
        </p:nvSpPr>
        <p:spPr>
          <a:xfrm>
            <a:off x="4627798" y="4744834"/>
            <a:ext cx="685800" cy="164592"/>
          </a:xfrm>
          <a:prstGeom prst="rect">
            <a:avLst/>
          </a:prstGeom>
          <a:noFill/>
          <a:ln/>
        </p:spPr>
        <p:txBody>
          <a:bodyPr wrap="square" lIns="381" tIns="381" rIns="381" bIns="381" rtlCol="0" anchor="t">
            <a:normAutofit fontScale="92500" lnSpcReduction="20000"/>
          </a:bodyPr>
          <a:lstStyle/>
          <a:p>
            <a:pPr marL="0" indent="0" algn="ctr">
              <a:buNone/>
            </a:pPr>
            <a:r>
              <a:rPr lang="en-US" sz="1300" b="1" dirty="0">
                <a:solidFill>
                  <a:srgbClr val="00FF57"/>
                </a:solidFill>
                <a:latin typeface="Aptos Display" pitchFamily="34" charset="0"/>
                <a:ea typeface="Aptos Display" pitchFamily="34" charset="-122"/>
                <a:cs typeface="Aptos Display" pitchFamily="34" charset="-120"/>
              </a:rPr>
              <a:t>98.41%</a:t>
            </a:r>
            <a:endParaRPr lang="en-US" sz="1300" dirty="0"/>
          </a:p>
        </p:txBody>
      </p:sp>
      <p:sp>
        <p:nvSpPr>
          <p:cNvPr id="153" name="Text 151"/>
          <p:cNvSpPr/>
          <p:nvPr/>
        </p:nvSpPr>
        <p:spPr>
          <a:xfrm>
            <a:off x="5255722" y="4754880"/>
            <a:ext cx="825038" cy="109728"/>
          </a:xfrm>
          <a:prstGeom prst="rect">
            <a:avLst/>
          </a:prstGeom>
          <a:noFill/>
          <a:ln/>
        </p:spPr>
        <p:txBody>
          <a:bodyPr wrap="square" lIns="381" tIns="381" rIns="381" bIns="381" rtlCol="0" anchor="t">
            <a:noAutofit/>
          </a:bodyPr>
          <a:lstStyle/>
          <a:p>
            <a:pPr marL="0" indent="0" algn="l">
              <a:buNone/>
            </a:pPr>
            <a:r>
              <a:rPr lang="en-US" sz="700" b="1" dirty="0">
                <a:solidFill>
                  <a:srgbClr val="C9D4CC"/>
                </a:solidFill>
                <a:latin typeface="Aptos" pitchFamily="34" charset="0"/>
                <a:ea typeface="Aptos" pitchFamily="34" charset="-122"/>
                <a:cs typeface="Aptos" pitchFamily="34" charset="-120"/>
              </a:rPr>
              <a:t>Framework Mapping</a:t>
            </a:r>
            <a:endParaRPr lang="en-US" sz="700" dirty="0"/>
          </a:p>
        </p:txBody>
      </p:sp>
      <p:sp>
        <p:nvSpPr>
          <p:cNvPr id="154" name="Text 152"/>
          <p:cNvSpPr/>
          <p:nvPr/>
        </p:nvSpPr>
        <p:spPr>
          <a:xfrm>
            <a:off x="3227832" y="5138928"/>
            <a:ext cx="685800" cy="164592"/>
          </a:xfrm>
          <a:prstGeom prst="rect">
            <a:avLst/>
          </a:prstGeom>
          <a:noFill/>
          <a:ln/>
        </p:spPr>
        <p:txBody>
          <a:bodyPr wrap="square" lIns="381" tIns="381" rIns="381" bIns="381" rtlCol="0" anchor="t">
            <a:normAutofit fontScale="92500" lnSpcReduction="20000"/>
          </a:bodyPr>
          <a:lstStyle/>
          <a:p>
            <a:pPr marL="0" indent="0" algn="ctr">
              <a:buNone/>
            </a:pPr>
            <a:r>
              <a:rPr lang="en-US" sz="1300" b="1" dirty="0">
                <a:solidFill>
                  <a:srgbClr val="00FF57"/>
                </a:solidFill>
                <a:latin typeface="Aptos Display" pitchFamily="34" charset="0"/>
                <a:ea typeface="Aptos Display" pitchFamily="34" charset="-122"/>
                <a:cs typeface="Aptos Display" pitchFamily="34" charset="-120"/>
              </a:rPr>
              <a:t>0.8s</a:t>
            </a:r>
            <a:endParaRPr lang="en-US" sz="1300" dirty="0"/>
          </a:p>
        </p:txBody>
      </p:sp>
      <p:sp>
        <p:nvSpPr>
          <p:cNvPr id="155" name="Text 153"/>
          <p:cNvSpPr/>
          <p:nvPr/>
        </p:nvSpPr>
        <p:spPr>
          <a:xfrm>
            <a:off x="3864539" y="5152431"/>
            <a:ext cx="798671" cy="109728"/>
          </a:xfrm>
          <a:prstGeom prst="rect">
            <a:avLst/>
          </a:prstGeom>
          <a:noFill/>
          <a:ln/>
        </p:spPr>
        <p:txBody>
          <a:bodyPr wrap="square" lIns="381" tIns="381" rIns="381" bIns="381" rtlCol="0" anchor="t">
            <a:noAutofit/>
          </a:bodyPr>
          <a:lstStyle/>
          <a:p>
            <a:pPr marL="0" indent="0" algn="l">
              <a:buNone/>
            </a:pPr>
            <a:r>
              <a:rPr lang="en-US" sz="700" b="1" dirty="0">
                <a:solidFill>
                  <a:srgbClr val="C9D4CC"/>
                </a:solidFill>
                <a:latin typeface="Aptos" pitchFamily="34" charset="0"/>
                <a:ea typeface="Aptos" pitchFamily="34" charset="-122"/>
                <a:cs typeface="Aptos" pitchFamily="34" charset="-120"/>
              </a:rPr>
              <a:t>Inference Latency</a:t>
            </a:r>
            <a:endParaRPr lang="en-US" sz="700" dirty="0"/>
          </a:p>
        </p:txBody>
      </p:sp>
      <p:sp>
        <p:nvSpPr>
          <p:cNvPr id="156" name="Text 154"/>
          <p:cNvSpPr/>
          <p:nvPr/>
        </p:nvSpPr>
        <p:spPr>
          <a:xfrm>
            <a:off x="4618654" y="5136334"/>
            <a:ext cx="685800" cy="164592"/>
          </a:xfrm>
          <a:prstGeom prst="rect">
            <a:avLst/>
          </a:prstGeom>
          <a:noFill/>
          <a:ln/>
        </p:spPr>
        <p:txBody>
          <a:bodyPr wrap="square" lIns="381" tIns="381" rIns="381" bIns="381" rtlCol="0" anchor="t">
            <a:normAutofit fontScale="92500" lnSpcReduction="20000"/>
          </a:bodyPr>
          <a:lstStyle/>
          <a:p>
            <a:pPr marL="0" indent="0" algn="ctr">
              <a:buNone/>
            </a:pPr>
            <a:r>
              <a:rPr lang="en-US" sz="1300" b="1" dirty="0">
                <a:solidFill>
                  <a:srgbClr val="00FF57"/>
                </a:solidFill>
                <a:latin typeface="Aptos Display" pitchFamily="34" charset="0"/>
                <a:ea typeface="Aptos Display" pitchFamily="34" charset="-122"/>
                <a:cs typeface="Aptos Display" pitchFamily="34" charset="-120"/>
              </a:rPr>
              <a:t>40MB</a:t>
            </a:r>
            <a:endParaRPr lang="en-US" sz="1300" dirty="0"/>
          </a:p>
        </p:txBody>
      </p:sp>
      <p:sp>
        <p:nvSpPr>
          <p:cNvPr id="157" name="Text 155"/>
          <p:cNvSpPr/>
          <p:nvPr/>
        </p:nvSpPr>
        <p:spPr>
          <a:xfrm>
            <a:off x="5257758" y="5148072"/>
            <a:ext cx="775929" cy="109728"/>
          </a:xfrm>
          <a:prstGeom prst="rect">
            <a:avLst/>
          </a:prstGeom>
          <a:noFill/>
          <a:ln/>
        </p:spPr>
        <p:txBody>
          <a:bodyPr wrap="square" lIns="381" tIns="381" rIns="381" bIns="381" rtlCol="0" anchor="t">
            <a:noAutofit/>
          </a:bodyPr>
          <a:lstStyle/>
          <a:p>
            <a:pPr marL="0" indent="0" algn="l">
              <a:buNone/>
            </a:pPr>
            <a:r>
              <a:rPr lang="en-US" sz="700" b="1" dirty="0">
                <a:solidFill>
                  <a:srgbClr val="C9D4CC"/>
                </a:solidFill>
                <a:latin typeface="Aptos" pitchFamily="34" charset="0"/>
                <a:ea typeface="Aptos" pitchFamily="34" charset="-122"/>
                <a:cs typeface="Aptos" pitchFamily="34" charset="-120"/>
              </a:rPr>
              <a:t>CSV RAM Footprint</a:t>
            </a:r>
            <a:endParaRPr lang="en-US" sz="700" dirty="0"/>
          </a:p>
        </p:txBody>
      </p:sp>
      <p:sp>
        <p:nvSpPr>
          <p:cNvPr id="158" name="Text 156"/>
          <p:cNvSpPr/>
          <p:nvPr/>
        </p:nvSpPr>
        <p:spPr>
          <a:xfrm>
            <a:off x="3347866" y="5336540"/>
            <a:ext cx="2508315" cy="697193"/>
          </a:xfrm>
          <a:prstGeom prst="rect">
            <a:avLst/>
          </a:prstGeom>
          <a:noFill/>
          <a:ln/>
        </p:spPr>
        <p:txBody>
          <a:bodyPr wrap="square" lIns="381" tIns="381" rIns="381" bIns="381" rtlCol="0" anchor="t">
            <a:noAutofit/>
          </a:bodyPr>
          <a:lstStyle/>
          <a:p>
            <a:pPr marL="0" indent="0" algn="l">
              <a:buNone/>
            </a:pPr>
            <a:r>
              <a:rPr lang="en-US" sz="600" b="1" dirty="0">
                <a:solidFill>
                  <a:srgbClr val="DCE9DF"/>
                </a:solidFill>
                <a:latin typeface="Aptos" pitchFamily="34" charset="0"/>
                <a:ea typeface="Aptos" pitchFamily="34" charset="-122"/>
                <a:cs typeface="Aptos" pitchFamily="34" charset="-120"/>
              </a:rPr>
              <a:t>Threat Mapping: SecureBERT + Heuristics + MPNet</a:t>
            </a:r>
            <a:endParaRPr lang="en-US" sz="600" dirty="0"/>
          </a:p>
          <a:p>
            <a:pPr marL="0" indent="0" algn="l">
              <a:buNone/>
            </a:pPr>
            <a:r>
              <a:rPr lang="en-US" sz="600" b="1" dirty="0">
                <a:solidFill>
                  <a:srgbClr val="DCE9DF"/>
                </a:solidFill>
                <a:latin typeface="Aptos" pitchFamily="34" charset="0"/>
                <a:ea typeface="Aptos" pitchFamily="34" charset="-122"/>
                <a:cs typeface="Aptos" pitchFamily="34" charset="-120"/>
              </a:rPr>
              <a:t>Unstructured ATT&amp;CK: RAG + ChromaDB context — 84.06% efficacy</a:t>
            </a:r>
            <a:endParaRPr lang="en-US" sz="600" dirty="0"/>
          </a:p>
          <a:p>
            <a:pPr marL="0" indent="0" algn="l">
              <a:buNone/>
            </a:pPr>
            <a:r>
              <a:rPr lang="en-US" sz="600" b="1" dirty="0">
                <a:solidFill>
                  <a:srgbClr val="DCE9DF"/>
                </a:solidFill>
                <a:latin typeface="Aptos" pitchFamily="34" charset="0"/>
                <a:ea typeface="Aptos" pitchFamily="34" charset="-122"/>
                <a:cs typeface="Aptos" pitchFamily="34" charset="-120"/>
              </a:rPr>
              <a:t>PCAP Analysis: </a:t>
            </a:r>
            <a:r>
              <a:rPr lang="en-US" sz="600" b="1" dirty="0" err="1">
                <a:solidFill>
                  <a:srgbClr val="DCE9DF"/>
                </a:solidFill>
                <a:latin typeface="Aptos" pitchFamily="34" charset="0"/>
                <a:ea typeface="Aptos" pitchFamily="34" charset="-122"/>
                <a:cs typeface="Aptos" pitchFamily="34" charset="-120"/>
              </a:rPr>
              <a:t>Scapy</a:t>
            </a:r>
            <a:r>
              <a:rPr lang="en-US" sz="600" b="1" dirty="0">
                <a:solidFill>
                  <a:srgbClr val="DCE9DF"/>
                </a:solidFill>
                <a:latin typeface="Aptos" pitchFamily="34" charset="0"/>
                <a:ea typeface="Aptos" pitchFamily="34" charset="-122"/>
                <a:cs typeface="Aptos" pitchFamily="34" charset="-120"/>
              </a:rPr>
              <a:t> parsing — 63.20% baseline due to TLS encryption</a:t>
            </a:r>
            <a:endParaRPr lang="en-US" sz="600" dirty="0"/>
          </a:p>
          <a:p>
            <a:pPr marL="0" indent="0" algn="l">
              <a:buNone/>
            </a:pPr>
            <a:r>
              <a:rPr lang="en-US" sz="600" b="1" dirty="0">
                <a:solidFill>
                  <a:srgbClr val="DCE9DF"/>
                </a:solidFill>
                <a:latin typeface="Aptos" pitchFamily="34" charset="0"/>
                <a:ea typeface="Aptos" pitchFamily="34" charset="-122"/>
                <a:cs typeface="Aptos" pitchFamily="34" charset="-120"/>
              </a:rPr>
              <a:t>Report Export: STIX 2.1 + SIEM exporter</a:t>
            </a:r>
            <a:endParaRPr lang="en-US" sz="600" dirty="0"/>
          </a:p>
        </p:txBody>
      </p:sp>
      <p:sp>
        <p:nvSpPr>
          <p:cNvPr id="159" name="Shape 157"/>
          <p:cNvSpPr/>
          <p:nvPr/>
        </p:nvSpPr>
        <p:spPr>
          <a:xfrm>
            <a:off x="6291072" y="4462272"/>
            <a:ext cx="2642616" cy="1353312"/>
          </a:xfrm>
          <a:prstGeom prst="roundRect">
            <a:avLst>
              <a:gd name="adj" fmla="val 4054"/>
            </a:avLst>
          </a:prstGeom>
          <a:solidFill>
            <a:srgbClr val="07120A"/>
          </a:solidFill>
          <a:ln w="9525">
            <a:solidFill>
              <a:srgbClr val="00C447">
                <a:alpha val="90000"/>
              </a:srgbClr>
            </a:solidFill>
            <a:prstDash val="solid"/>
          </a:ln>
        </p:spPr>
        <p:txBody>
          <a:bodyPr/>
          <a:lstStyle/>
          <a:p>
            <a:endParaRPr lang="en-US"/>
          </a:p>
        </p:txBody>
      </p:sp>
      <p:sp>
        <p:nvSpPr>
          <p:cNvPr id="160" name="Shape 158"/>
          <p:cNvSpPr/>
          <p:nvPr/>
        </p:nvSpPr>
        <p:spPr>
          <a:xfrm>
            <a:off x="6291072" y="4462272"/>
            <a:ext cx="2642616" cy="201168"/>
          </a:xfrm>
          <a:prstGeom prst="rect">
            <a:avLst/>
          </a:prstGeom>
          <a:solidFill>
            <a:srgbClr val="00FF57">
              <a:alpha val="95000"/>
            </a:srgbClr>
          </a:solidFill>
          <a:ln w="12700">
            <a:solidFill>
              <a:srgbClr val="00FF57"/>
            </a:solidFill>
            <a:prstDash val="solid"/>
          </a:ln>
        </p:spPr>
        <p:txBody>
          <a:bodyPr/>
          <a:lstStyle/>
          <a:p>
            <a:endParaRPr lang="en-US"/>
          </a:p>
        </p:txBody>
      </p:sp>
      <p:sp>
        <p:nvSpPr>
          <p:cNvPr id="161" name="Text 159"/>
          <p:cNvSpPr/>
          <p:nvPr/>
        </p:nvSpPr>
        <p:spPr>
          <a:xfrm>
            <a:off x="6364224" y="4494276"/>
            <a:ext cx="2496312" cy="128016"/>
          </a:xfrm>
          <a:prstGeom prst="rect">
            <a:avLst/>
          </a:prstGeom>
          <a:noFill/>
          <a:ln/>
        </p:spPr>
        <p:txBody>
          <a:bodyPr wrap="square" lIns="381" tIns="381" rIns="381" bIns="381" rtlCol="0" anchor="t">
            <a:noAutofit/>
          </a:bodyPr>
          <a:lstStyle/>
          <a:p>
            <a:pPr marL="0" indent="0" algn="l">
              <a:buNone/>
            </a:pPr>
            <a:r>
              <a:rPr lang="en-US" sz="1000" b="1" dirty="0">
                <a:solidFill>
                  <a:srgbClr val="001707"/>
                </a:solidFill>
                <a:latin typeface="Aptos Mono" pitchFamily="34" charset="0"/>
                <a:ea typeface="Aptos Mono" pitchFamily="34" charset="-122"/>
                <a:cs typeface="Aptos Mono" pitchFamily="34" charset="-120"/>
              </a:rPr>
              <a:t>DISCUSSION &amp; CONCLUSIONS</a:t>
            </a:r>
            <a:endParaRPr lang="en-US" sz="1000" dirty="0"/>
          </a:p>
        </p:txBody>
      </p:sp>
      <p:sp>
        <p:nvSpPr>
          <p:cNvPr id="162" name="Text 160"/>
          <p:cNvSpPr/>
          <p:nvPr/>
        </p:nvSpPr>
        <p:spPr>
          <a:xfrm>
            <a:off x="6400800" y="4713000"/>
            <a:ext cx="2414016" cy="457200"/>
          </a:xfrm>
          <a:prstGeom prst="rect">
            <a:avLst/>
          </a:prstGeom>
          <a:noFill/>
          <a:ln/>
        </p:spPr>
        <p:txBody>
          <a:bodyPr wrap="square" lIns="381" tIns="381" rIns="381" bIns="381" rtlCol="0" anchor="t">
            <a:noAutofit/>
          </a:bodyPr>
          <a:lstStyle/>
          <a:p>
            <a:pPr marL="0" indent="0" algn="l">
              <a:buNone/>
            </a:pPr>
            <a:r>
              <a:rPr lang="en-US" sz="700" dirty="0">
                <a:solidFill>
                  <a:srgbClr val="DCE9DF"/>
                </a:solidFill>
                <a:latin typeface="Aptos" pitchFamily="34" charset="0"/>
                <a:ea typeface="Aptos" pitchFamily="34" charset="-122"/>
                <a:cs typeface="Aptos" pitchFamily="34" charset="-120"/>
              </a:rPr>
              <a:t>autoMITRE demonstrates the value of hybrid AI in cyber threat intelligence. SecureBERT strengthens classification of cyber language, while RAG constrains generative outputs to validated framework context. The platform converts raw threat data into structured intelligence and actionable guidance.</a:t>
            </a:r>
            <a:endParaRPr lang="en-US" sz="700" dirty="0"/>
          </a:p>
        </p:txBody>
      </p:sp>
      <p:sp>
        <p:nvSpPr>
          <p:cNvPr id="163" name="Shape 161"/>
          <p:cNvSpPr/>
          <p:nvPr/>
        </p:nvSpPr>
        <p:spPr>
          <a:xfrm>
            <a:off x="6400800" y="5266944"/>
            <a:ext cx="2395728" cy="0"/>
          </a:xfrm>
          <a:prstGeom prst="line">
            <a:avLst/>
          </a:prstGeom>
          <a:noFill/>
          <a:ln w="6350">
            <a:solidFill>
              <a:srgbClr val="00FF57">
                <a:alpha val="80000"/>
              </a:srgbClr>
            </a:solidFill>
            <a:prstDash val="solid"/>
          </a:ln>
        </p:spPr>
        <p:txBody>
          <a:bodyPr/>
          <a:lstStyle/>
          <a:p>
            <a:endParaRPr lang="en-US"/>
          </a:p>
        </p:txBody>
      </p:sp>
      <p:sp>
        <p:nvSpPr>
          <p:cNvPr id="164" name="Text 162"/>
          <p:cNvSpPr/>
          <p:nvPr/>
        </p:nvSpPr>
        <p:spPr>
          <a:xfrm>
            <a:off x="6400800" y="5340096"/>
            <a:ext cx="2414016" cy="256032"/>
          </a:xfrm>
          <a:prstGeom prst="rect">
            <a:avLst/>
          </a:prstGeom>
          <a:noFill/>
          <a:ln/>
        </p:spPr>
        <p:txBody>
          <a:bodyPr wrap="square" lIns="381" tIns="381" rIns="381" bIns="381" rtlCol="0" anchor="t">
            <a:noAutofit/>
          </a:bodyPr>
          <a:lstStyle/>
          <a:p>
            <a:pPr marL="0" indent="0" algn="l">
              <a:buNone/>
            </a:pPr>
            <a:r>
              <a:rPr lang="en-US" sz="700" dirty="0">
                <a:solidFill>
                  <a:srgbClr val="C9D4CC"/>
                </a:solidFill>
                <a:latin typeface="Aptos" pitchFamily="34" charset="0"/>
                <a:ea typeface="Aptos" pitchFamily="34" charset="-122"/>
                <a:cs typeface="Aptos" pitchFamily="34" charset="-120"/>
              </a:rPr>
              <a:t>Future work: stronger offline LLM support, expanded PCAP parsing, SIEM integration and improved accuracy on noisy or obfuscated data.</a:t>
            </a:r>
            <a:endParaRPr lang="en-US" sz="700" dirty="0"/>
          </a:p>
        </p:txBody>
      </p:sp>
      <p:sp>
        <p:nvSpPr>
          <p:cNvPr id="165" name="Shape 163"/>
          <p:cNvSpPr/>
          <p:nvPr/>
        </p:nvSpPr>
        <p:spPr>
          <a:xfrm>
            <a:off x="201168" y="5961888"/>
            <a:ext cx="8732520" cy="566928"/>
          </a:xfrm>
          <a:prstGeom prst="roundRect">
            <a:avLst>
              <a:gd name="adj" fmla="val 9677"/>
            </a:avLst>
          </a:prstGeom>
          <a:solidFill>
            <a:srgbClr val="07120A"/>
          </a:solidFill>
          <a:ln w="9525">
            <a:solidFill>
              <a:srgbClr val="00C447">
                <a:alpha val="90000"/>
              </a:srgbClr>
            </a:solidFill>
            <a:prstDash val="solid"/>
          </a:ln>
        </p:spPr>
        <p:txBody>
          <a:bodyPr/>
          <a:lstStyle/>
          <a:p>
            <a:endParaRPr lang="en-US"/>
          </a:p>
        </p:txBody>
      </p:sp>
      <p:sp>
        <p:nvSpPr>
          <p:cNvPr id="166" name="Shape 164"/>
          <p:cNvSpPr/>
          <p:nvPr/>
        </p:nvSpPr>
        <p:spPr>
          <a:xfrm>
            <a:off x="201168" y="5961888"/>
            <a:ext cx="8732520" cy="201168"/>
          </a:xfrm>
          <a:prstGeom prst="rect">
            <a:avLst/>
          </a:prstGeom>
          <a:solidFill>
            <a:srgbClr val="00FF57">
              <a:alpha val="95000"/>
            </a:srgbClr>
          </a:solidFill>
          <a:ln w="12700">
            <a:solidFill>
              <a:srgbClr val="00FF57"/>
            </a:solidFill>
            <a:prstDash val="solid"/>
          </a:ln>
        </p:spPr>
        <p:txBody>
          <a:bodyPr/>
          <a:lstStyle/>
          <a:p>
            <a:endParaRPr lang="en-US"/>
          </a:p>
        </p:txBody>
      </p:sp>
      <p:sp>
        <p:nvSpPr>
          <p:cNvPr id="167" name="Text 165"/>
          <p:cNvSpPr/>
          <p:nvPr/>
        </p:nvSpPr>
        <p:spPr>
          <a:xfrm>
            <a:off x="274320" y="5993892"/>
            <a:ext cx="8586216" cy="128016"/>
          </a:xfrm>
          <a:prstGeom prst="rect">
            <a:avLst/>
          </a:prstGeom>
          <a:noFill/>
          <a:ln/>
        </p:spPr>
        <p:txBody>
          <a:bodyPr wrap="square" lIns="381" tIns="381" rIns="381" bIns="381" rtlCol="0" anchor="t">
            <a:noAutofit/>
          </a:bodyPr>
          <a:lstStyle/>
          <a:p>
            <a:pPr marL="0" indent="0" algn="l">
              <a:buNone/>
            </a:pPr>
            <a:r>
              <a:rPr lang="en-US" sz="1000" b="1" dirty="0">
                <a:solidFill>
                  <a:srgbClr val="001707"/>
                </a:solidFill>
                <a:latin typeface="Aptos Mono" pitchFamily="34" charset="0"/>
                <a:ea typeface="Aptos Mono" pitchFamily="34" charset="-122"/>
                <a:cs typeface="Aptos Mono" pitchFamily="34" charset="-120"/>
              </a:rPr>
              <a:t>KEY INNOVATION, LIMITATIONS AND FUTURE WORK</a:t>
            </a:r>
            <a:endParaRPr lang="en-US" sz="1000" dirty="0"/>
          </a:p>
        </p:txBody>
      </p:sp>
      <p:sp>
        <p:nvSpPr>
          <p:cNvPr id="168" name="Text 166"/>
          <p:cNvSpPr/>
          <p:nvPr/>
        </p:nvSpPr>
        <p:spPr>
          <a:xfrm>
            <a:off x="384048" y="6236208"/>
            <a:ext cx="758952" cy="91440"/>
          </a:xfrm>
          <a:prstGeom prst="rect">
            <a:avLst/>
          </a:prstGeom>
          <a:noFill/>
          <a:ln/>
        </p:spPr>
        <p:txBody>
          <a:bodyPr wrap="square" lIns="381" tIns="381" rIns="381" bIns="381" rtlCol="0" anchor="t">
            <a:noAutofit/>
          </a:bodyPr>
          <a:lstStyle/>
          <a:p>
            <a:pPr marL="0" indent="0" algn="l">
              <a:buNone/>
            </a:pPr>
            <a:r>
              <a:rPr lang="en-US" sz="600" b="1" dirty="0">
                <a:solidFill>
                  <a:srgbClr val="00FF57"/>
                </a:solidFill>
                <a:latin typeface="Aptos Mono" pitchFamily="34" charset="0"/>
                <a:ea typeface="Aptos Mono" pitchFamily="34" charset="-122"/>
                <a:cs typeface="Aptos Mono" pitchFamily="34" charset="-120"/>
              </a:rPr>
              <a:t>INNOVATION</a:t>
            </a:r>
            <a:endParaRPr lang="en-US" sz="600" dirty="0"/>
          </a:p>
        </p:txBody>
      </p:sp>
      <p:sp>
        <p:nvSpPr>
          <p:cNvPr id="169" name="Text 167"/>
          <p:cNvSpPr/>
          <p:nvPr/>
        </p:nvSpPr>
        <p:spPr>
          <a:xfrm>
            <a:off x="969264" y="6222545"/>
            <a:ext cx="1920240" cy="128016"/>
          </a:xfrm>
          <a:prstGeom prst="rect">
            <a:avLst/>
          </a:prstGeom>
          <a:noFill/>
          <a:ln/>
        </p:spPr>
        <p:txBody>
          <a:bodyPr wrap="square" lIns="381" tIns="381" rIns="381" bIns="381" rtlCol="0" anchor="t">
            <a:noAutofit/>
          </a:bodyPr>
          <a:lstStyle/>
          <a:p>
            <a:pPr marL="0" indent="0" algn="l">
              <a:buNone/>
            </a:pPr>
            <a:r>
              <a:rPr lang="en-US" sz="700" dirty="0">
                <a:solidFill>
                  <a:srgbClr val="DCE9DF"/>
                </a:solidFill>
                <a:latin typeface="Aptos" pitchFamily="34" charset="0"/>
                <a:ea typeface="Aptos" pitchFamily="34" charset="-122"/>
                <a:cs typeface="Aptos" pitchFamily="34" charset="-120"/>
              </a:rPr>
              <a:t>Hybrid deterministic NLP + generative RAG; cross-framework interoperability; dual-LLM routing.</a:t>
            </a:r>
            <a:endParaRPr lang="en-US" sz="700" dirty="0"/>
          </a:p>
        </p:txBody>
      </p:sp>
      <p:sp>
        <p:nvSpPr>
          <p:cNvPr id="170" name="Text 168"/>
          <p:cNvSpPr/>
          <p:nvPr/>
        </p:nvSpPr>
        <p:spPr>
          <a:xfrm>
            <a:off x="3218688" y="6236208"/>
            <a:ext cx="758952" cy="91440"/>
          </a:xfrm>
          <a:prstGeom prst="rect">
            <a:avLst/>
          </a:prstGeom>
          <a:noFill/>
          <a:ln/>
        </p:spPr>
        <p:txBody>
          <a:bodyPr wrap="square" lIns="381" tIns="381" rIns="381" bIns="381" rtlCol="0" anchor="t">
            <a:noAutofit/>
          </a:bodyPr>
          <a:lstStyle/>
          <a:p>
            <a:pPr marL="0" indent="0" algn="l">
              <a:buNone/>
            </a:pPr>
            <a:r>
              <a:rPr lang="en-US" sz="600" b="1" dirty="0">
                <a:solidFill>
                  <a:srgbClr val="00FF57"/>
                </a:solidFill>
                <a:latin typeface="Aptos Mono" pitchFamily="34" charset="0"/>
                <a:ea typeface="Aptos Mono" pitchFamily="34" charset="-122"/>
                <a:cs typeface="Aptos Mono" pitchFamily="34" charset="-120"/>
              </a:rPr>
              <a:t>LIMITATIONS</a:t>
            </a:r>
            <a:endParaRPr lang="en-US" sz="600" dirty="0"/>
          </a:p>
        </p:txBody>
      </p:sp>
      <p:sp>
        <p:nvSpPr>
          <p:cNvPr id="171" name="Text 169"/>
          <p:cNvSpPr/>
          <p:nvPr/>
        </p:nvSpPr>
        <p:spPr>
          <a:xfrm>
            <a:off x="3836981" y="6213401"/>
            <a:ext cx="1920240" cy="128016"/>
          </a:xfrm>
          <a:prstGeom prst="rect">
            <a:avLst/>
          </a:prstGeom>
          <a:noFill/>
          <a:ln/>
        </p:spPr>
        <p:txBody>
          <a:bodyPr wrap="square" lIns="381" tIns="381" rIns="381" bIns="381" rtlCol="0" anchor="t">
            <a:noAutofit/>
          </a:bodyPr>
          <a:lstStyle/>
          <a:p>
            <a:pPr marL="0" indent="0" algn="l">
              <a:buNone/>
            </a:pPr>
            <a:r>
              <a:rPr lang="en-US" sz="700" dirty="0">
                <a:solidFill>
                  <a:srgbClr val="DCE9DF"/>
                </a:solidFill>
                <a:latin typeface="Aptos" pitchFamily="34" charset="0"/>
                <a:ea typeface="Aptos" pitchFamily="34" charset="-122"/>
                <a:cs typeface="Aptos" pitchFamily="34" charset="-120"/>
              </a:rPr>
              <a:t>Encrypted TLS traffic constrains PCAP inspection; local inference requires adequate memory.</a:t>
            </a:r>
            <a:endParaRPr lang="en-US" sz="700" dirty="0"/>
          </a:p>
        </p:txBody>
      </p:sp>
      <p:sp>
        <p:nvSpPr>
          <p:cNvPr id="172" name="Text 170"/>
          <p:cNvSpPr/>
          <p:nvPr/>
        </p:nvSpPr>
        <p:spPr>
          <a:xfrm>
            <a:off x="6053328" y="6236208"/>
            <a:ext cx="758952" cy="91440"/>
          </a:xfrm>
          <a:prstGeom prst="rect">
            <a:avLst/>
          </a:prstGeom>
          <a:noFill/>
          <a:ln/>
        </p:spPr>
        <p:txBody>
          <a:bodyPr wrap="square" lIns="381" tIns="381" rIns="381" bIns="381" rtlCol="0" anchor="t">
            <a:noAutofit/>
          </a:bodyPr>
          <a:lstStyle/>
          <a:p>
            <a:pPr marL="0" indent="0" algn="l">
              <a:buNone/>
            </a:pPr>
            <a:r>
              <a:rPr lang="en-US" sz="600" b="1" dirty="0">
                <a:solidFill>
                  <a:srgbClr val="00FF57"/>
                </a:solidFill>
                <a:latin typeface="Aptos Mono" pitchFamily="34" charset="0"/>
                <a:ea typeface="Aptos Mono" pitchFamily="34" charset="-122"/>
                <a:cs typeface="Aptos Mono" pitchFamily="34" charset="-120"/>
              </a:rPr>
              <a:t>FUTURE WORK</a:t>
            </a:r>
            <a:endParaRPr lang="en-US" sz="600" dirty="0"/>
          </a:p>
        </p:txBody>
      </p:sp>
      <p:sp>
        <p:nvSpPr>
          <p:cNvPr id="173" name="Text 171"/>
          <p:cNvSpPr/>
          <p:nvPr/>
        </p:nvSpPr>
        <p:spPr>
          <a:xfrm>
            <a:off x="6649134" y="6213401"/>
            <a:ext cx="1920240" cy="128016"/>
          </a:xfrm>
          <a:prstGeom prst="rect">
            <a:avLst/>
          </a:prstGeom>
          <a:noFill/>
          <a:ln/>
        </p:spPr>
        <p:txBody>
          <a:bodyPr wrap="square" lIns="381" tIns="381" rIns="381" bIns="381" rtlCol="0" anchor="t">
            <a:noAutofit/>
          </a:bodyPr>
          <a:lstStyle/>
          <a:p>
            <a:pPr marL="0" indent="0" algn="l">
              <a:buNone/>
            </a:pPr>
            <a:r>
              <a:rPr lang="en-US" sz="700" dirty="0">
                <a:solidFill>
                  <a:srgbClr val="DCE9DF"/>
                </a:solidFill>
                <a:latin typeface="Aptos" pitchFamily="34" charset="0"/>
                <a:ea typeface="Aptos" pitchFamily="34" charset="-122"/>
                <a:cs typeface="Aptos" pitchFamily="34" charset="-120"/>
              </a:rPr>
              <a:t>DBSCAN anomaly discovery; CSA/GDPR matrices; automated SOAR firewall actions.</a:t>
            </a:r>
            <a:endParaRPr lang="en-US" sz="700" dirty="0"/>
          </a:p>
        </p:txBody>
      </p:sp>
      <p:sp>
        <p:nvSpPr>
          <p:cNvPr id="174" name="Shape 172"/>
          <p:cNvSpPr/>
          <p:nvPr/>
        </p:nvSpPr>
        <p:spPr>
          <a:xfrm>
            <a:off x="201168" y="6629400"/>
            <a:ext cx="8732520" cy="0"/>
          </a:xfrm>
          <a:prstGeom prst="line">
            <a:avLst/>
          </a:prstGeom>
          <a:noFill/>
          <a:ln w="8890">
            <a:solidFill>
              <a:srgbClr val="00FF57">
                <a:alpha val="75000"/>
              </a:srgbClr>
            </a:solidFill>
            <a:prstDash val="solid"/>
          </a:ln>
        </p:spPr>
        <p:txBody>
          <a:bodyPr/>
          <a:lstStyle/>
          <a:p>
            <a:endParaRPr lang="en-US"/>
          </a:p>
        </p:txBody>
      </p:sp>
      <p:sp>
        <p:nvSpPr>
          <p:cNvPr id="175" name="Text 173"/>
          <p:cNvSpPr/>
          <p:nvPr/>
        </p:nvSpPr>
        <p:spPr>
          <a:xfrm>
            <a:off x="228600" y="6684264"/>
            <a:ext cx="3840480" cy="109728"/>
          </a:xfrm>
          <a:prstGeom prst="rect">
            <a:avLst/>
          </a:prstGeom>
          <a:noFill/>
          <a:ln/>
        </p:spPr>
        <p:txBody>
          <a:bodyPr wrap="square" lIns="381" tIns="381" rIns="381" bIns="381" rtlCol="0" anchor="t">
            <a:normAutofit/>
          </a:bodyPr>
          <a:lstStyle/>
          <a:p>
            <a:pPr marL="0" indent="0" algn="l">
              <a:buNone/>
            </a:pPr>
            <a:r>
              <a:rPr lang="en-US" sz="450" b="1" dirty="0">
                <a:solidFill>
                  <a:srgbClr val="009E39"/>
                </a:solidFill>
                <a:latin typeface="Aptos Mono" pitchFamily="34" charset="0"/>
                <a:ea typeface="Aptos Mono" pitchFamily="34" charset="-122"/>
                <a:cs typeface="Aptos Mono" pitchFamily="34" charset="-120"/>
              </a:rPr>
              <a:t>Relevant SDGs: 9 Innovation | 16 Strong Institutions | 4 Education | 8 Decent Work</a:t>
            </a:r>
            <a:endParaRPr lang="en-US" sz="450" dirty="0"/>
          </a:p>
        </p:txBody>
      </p:sp>
      <p:sp>
        <p:nvSpPr>
          <p:cNvPr id="176" name="Text 174"/>
          <p:cNvSpPr/>
          <p:nvPr/>
        </p:nvSpPr>
        <p:spPr>
          <a:xfrm>
            <a:off x="4617720" y="6684264"/>
            <a:ext cx="4297680" cy="109728"/>
          </a:xfrm>
          <a:prstGeom prst="rect">
            <a:avLst/>
          </a:prstGeom>
          <a:noFill/>
          <a:ln/>
        </p:spPr>
        <p:txBody>
          <a:bodyPr wrap="square" lIns="381" tIns="381" rIns="381" bIns="381" rtlCol="0" anchor="t">
            <a:normAutofit/>
          </a:bodyPr>
          <a:lstStyle/>
          <a:p>
            <a:pPr marL="0" indent="0" algn="r">
              <a:buNone/>
            </a:pPr>
            <a:r>
              <a:rPr lang="en-US" sz="450" b="1" dirty="0">
                <a:solidFill>
                  <a:srgbClr val="C9D4CC"/>
                </a:solidFill>
                <a:latin typeface="Aptos Mono" pitchFamily="34" charset="0"/>
                <a:ea typeface="Aptos Mono" pitchFamily="34" charset="-122"/>
                <a:cs typeface="Aptos Mono" pitchFamily="34" charset="-120"/>
              </a:rPr>
              <a:t>Strong SOCs  |  MITRE-ready defences  |  Reliable security automation</a:t>
            </a:r>
            <a:endParaRPr lang="en-US" sz="450" dirty="0"/>
          </a:p>
        </p:txBody>
      </p:sp>
      <p:pic>
        <p:nvPicPr>
          <p:cNvPr id="178" name="Picture 177">
            <a:extLst>
              <a:ext uri="{FF2B5EF4-FFF2-40B4-BE49-F238E27FC236}">
                <a16:creationId xmlns:a16="http://schemas.microsoft.com/office/drawing/2014/main" id="{A26A8ED7-9947-A80A-5A69-53456CC1F007}"/>
              </a:ext>
            </a:extLst>
          </p:cNvPr>
          <p:cNvPicPr>
            <a:picLocks noChangeAspect="1"/>
          </p:cNvPicPr>
          <p:nvPr/>
        </p:nvPicPr>
        <p:blipFill>
          <a:blip r:embed="rId3"/>
          <a:stretch>
            <a:fillRect/>
          </a:stretch>
        </p:blipFill>
        <p:spPr>
          <a:xfrm>
            <a:off x="1180833" y="3282410"/>
            <a:ext cx="361970" cy="424378"/>
          </a:xfrm>
          <a:prstGeom prst="rect">
            <a:avLst/>
          </a:prstGeom>
        </p:spPr>
      </p:pic>
      <p:pic>
        <p:nvPicPr>
          <p:cNvPr id="180" name="Picture 179">
            <a:extLst>
              <a:ext uri="{FF2B5EF4-FFF2-40B4-BE49-F238E27FC236}">
                <a16:creationId xmlns:a16="http://schemas.microsoft.com/office/drawing/2014/main" id="{A8570F9A-ED9C-0631-1AE6-8FE0AD84BEEE}"/>
              </a:ext>
            </a:extLst>
          </p:cNvPr>
          <p:cNvPicPr>
            <a:picLocks noChangeAspect="1"/>
          </p:cNvPicPr>
          <p:nvPr/>
        </p:nvPicPr>
        <p:blipFill>
          <a:blip r:embed="rId4"/>
          <a:stretch>
            <a:fillRect/>
          </a:stretch>
        </p:blipFill>
        <p:spPr>
          <a:xfrm>
            <a:off x="2535569" y="3328416"/>
            <a:ext cx="453062" cy="344098"/>
          </a:xfrm>
          <a:prstGeom prst="rect">
            <a:avLst/>
          </a:prstGeom>
        </p:spPr>
      </p:pic>
      <p:pic>
        <p:nvPicPr>
          <p:cNvPr id="182" name="Picture 181">
            <a:extLst>
              <a:ext uri="{FF2B5EF4-FFF2-40B4-BE49-F238E27FC236}">
                <a16:creationId xmlns:a16="http://schemas.microsoft.com/office/drawing/2014/main" id="{093F12D2-4A77-5520-4541-C2B113B0CEE7}"/>
              </a:ext>
            </a:extLst>
          </p:cNvPr>
          <p:cNvPicPr>
            <a:picLocks noChangeAspect="1"/>
          </p:cNvPicPr>
          <p:nvPr/>
        </p:nvPicPr>
        <p:blipFill>
          <a:blip r:embed="rId5"/>
          <a:stretch>
            <a:fillRect/>
          </a:stretch>
        </p:blipFill>
        <p:spPr>
          <a:xfrm>
            <a:off x="4034635" y="3285832"/>
            <a:ext cx="372936" cy="324026"/>
          </a:xfrm>
          <a:prstGeom prst="rect">
            <a:avLst/>
          </a:prstGeom>
        </p:spPr>
      </p:pic>
      <p:pic>
        <p:nvPicPr>
          <p:cNvPr id="184" name="Picture 183">
            <a:extLst>
              <a:ext uri="{FF2B5EF4-FFF2-40B4-BE49-F238E27FC236}">
                <a16:creationId xmlns:a16="http://schemas.microsoft.com/office/drawing/2014/main" id="{CC17630D-8325-B9C5-75D9-F724D18E3ACF}"/>
              </a:ext>
            </a:extLst>
          </p:cNvPr>
          <p:cNvPicPr>
            <a:picLocks noChangeAspect="1"/>
          </p:cNvPicPr>
          <p:nvPr/>
        </p:nvPicPr>
        <p:blipFill>
          <a:blip r:embed="rId6"/>
          <a:stretch>
            <a:fillRect/>
          </a:stretch>
        </p:blipFill>
        <p:spPr>
          <a:xfrm>
            <a:off x="5419230" y="3267798"/>
            <a:ext cx="407154" cy="420956"/>
          </a:xfrm>
          <a:prstGeom prst="rect">
            <a:avLst/>
          </a:prstGeom>
        </p:spPr>
      </p:pic>
      <p:pic>
        <p:nvPicPr>
          <p:cNvPr id="186" name="Picture 185">
            <a:extLst>
              <a:ext uri="{FF2B5EF4-FFF2-40B4-BE49-F238E27FC236}">
                <a16:creationId xmlns:a16="http://schemas.microsoft.com/office/drawing/2014/main" id="{EBDE98A2-4691-6532-099C-E7EBC16C7DCB}"/>
              </a:ext>
            </a:extLst>
          </p:cNvPr>
          <p:cNvPicPr>
            <a:picLocks noChangeAspect="1"/>
          </p:cNvPicPr>
          <p:nvPr/>
        </p:nvPicPr>
        <p:blipFill>
          <a:blip r:embed="rId7"/>
          <a:stretch>
            <a:fillRect/>
          </a:stretch>
        </p:blipFill>
        <p:spPr>
          <a:xfrm>
            <a:off x="6812281" y="3262806"/>
            <a:ext cx="393192" cy="309310"/>
          </a:xfrm>
          <a:prstGeom prst="rect">
            <a:avLst/>
          </a:prstGeom>
        </p:spPr>
      </p:pic>
      <p:pic>
        <p:nvPicPr>
          <p:cNvPr id="188" name="Picture 187">
            <a:extLst>
              <a:ext uri="{FF2B5EF4-FFF2-40B4-BE49-F238E27FC236}">
                <a16:creationId xmlns:a16="http://schemas.microsoft.com/office/drawing/2014/main" id="{72F06670-4B43-67C6-F0EA-5A73ED731146}"/>
              </a:ext>
            </a:extLst>
          </p:cNvPr>
          <p:cNvPicPr>
            <a:picLocks noChangeAspect="1"/>
          </p:cNvPicPr>
          <p:nvPr/>
        </p:nvPicPr>
        <p:blipFill>
          <a:blip r:embed="rId8"/>
          <a:stretch>
            <a:fillRect/>
          </a:stretch>
        </p:blipFill>
        <p:spPr>
          <a:xfrm>
            <a:off x="8314456" y="3297236"/>
            <a:ext cx="321847" cy="35007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490</Words>
  <Application>Microsoft Office PowerPoint</Application>
  <PresentationFormat>On-screen Show (4:3)</PresentationFormat>
  <Paragraphs>79</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Aptos Mono</vt:lpstr>
      <vt:lpstr>Arial</vt:lpstr>
      <vt:lpstr>Office Theme</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autoMITRE Technical Poster</dc:title>
  <dc:subject>autoMITRE Technical Poster - neon style</dc:subject>
  <dc:creator>OpenAI</dc:creator>
  <cp:lastModifiedBy>Mira Girgis</cp:lastModifiedBy>
  <cp:revision>3</cp:revision>
  <dcterms:created xsi:type="dcterms:W3CDTF">2026-06-27T22:28:50Z</dcterms:created>
  <dcterms:modified xsi:type="dcterms:W3CDTF">2026-06-27T23:04:54Z</dcterms:modified>
</cp:coreProperties>
</file>