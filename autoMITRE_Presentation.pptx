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2" d="100"/>
          <a:sy n="152" d="100"/>
        </p:scale>
        <p:origin x="3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7636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Introduce the team and project title. Supervisor: Dr. Ahmed Maher Moustafa. University: AASTMT, Smart Village campus.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committee through the presentation outline. 10 major sections, 40 total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fragmented ecosystem analysts face daily. Each bullet maps to a real workflow pain point identified in industry.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practical motivation. AutoMITRE was designed around real SOC analyst workflows.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problem statement quote directly. Then explain each gap briefly. These three gaps define the scope of AutoMITRE.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objective maps directly to a functional requirement (FR) in the SRS (IEEE 830). The committee can verify traceability.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existing tool. Emphasize that all operate independently and none has AI + multi-framework + SIEM in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definitive comparison. AutoMITRE is the only system that ticks all five capability columns simultaneously.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AutoMITRE's research contribution. Emphasize it fills the gap identified in all reviewed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each framework briefly. AutoMITRE is notable for using ALL FOUR simultaneously in a single analysis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AI stack. Key point: SecureBERT is domain-specific (not ChatGPT). RAG grounds outputs in real knowledge bases.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AutoMITRE's SIEM export differentiates it from academic tools. STIX 2.1 is the real-world standard for CTI sharing.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Three-tier architecture: React frontend → FastAPI backend → AI engine. External integrations at all tiers.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Intake Router is what makes AutoMITRE unique – no other academic tool handles all 7 input types natively.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pipeline. Steps 2–4 are the AI heart of AutoMITRE. Step 4 (RAG) is the key anti-hallucination mechanism.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Justify each design decision. The committee will likely ask about the hybrid AI choice – see notes above.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tools are open-source or free-tier. This demonstrates budget-conscious implementation without sacrificing capability.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modular structure. Separation of concerns allows each team member to own a module independently.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SQLite with async SQLAlchemy chosen for prototyping. PostgreSQL identified as the future production upgrade.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React 18 + Vite for hot module reloading. Recharts for all charts. Lucide-React for icons. State management via React hooks.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real, measured metrics from train.log and train_secbert.log. The 96.65% F1-Score vastly exceeds the 90% threshold set in the test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PCAP accuracy (63.2%) is acknowledged as lower – explain this is due to hardware constraints and is a future work item.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8 NFRs passed. 37 test cases total, all PASS. Emphasize the rigor of testing: unit + integration + ML eval + E2E.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IEEE 829 compliance gives the testing credibility. Emphasize 5 distinct testing types, not just unit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TC-33 (fallback resilience) is often the most impressive to committee members – the system never crashes even when cloud is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discussion points the committee is most likely to probe. Have detailed answers ready for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Acknowledge limitations honestly – committees respect self-aware teams. Each limitation has a corresponding Future Work item.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closing argument. Deliver these 5 points with confidence. They directly map to the 5 objectives set in Chapter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Future work directly addresses all limitations from Slide 36. This shows the committee the team has a clear, realistic vision.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slide. Have printed copies of the test case matrix (TC-01 to TC-37) ready. Common questions: Why SecureBERT? How does RAG prevent hallucinations? What's next for the project?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37360" y="27432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autoMITRE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1737360" y="10058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Threat Intelligence and Mitigation System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57200" y="1691640"/>
            <a:ext cx="8229600" cy="2743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7" name="Text 4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Project – B.Sc. in CyberSecurity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2240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 Academy for Science, Technology &amp; Maritime Transport (AASTMT)
</a:t>
            </a: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of Computing and Information Technology · Smart Village, Cairo 2025–2026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3017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329184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Moustafa Ahmed Elsayed – 221027722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 El-Rahman Mohammed Abd-Eltawab – 221027660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Hashem Abdo Hashem – 221010840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Amin – 221027418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Jana Wael – 221027512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Jomana Mohsen – 221027807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02920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Ahmed Maher Moustafa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5" name="Text 3"/>
          <p:cNvSpPr/>
          <p:nvPr/>
        </p:nvSpPr>
        <p:spPr>
          <a:xfrm>
            <a:off x="566928" y="97840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15568" y="978408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8" name="Text 6"/>
          <p:cNvSpPr/>
          <p:nvPr/>
        </p:nvSpPr>
        <p:spPr>
          <a:xfrm>
            <a:off x="566928" y="180136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15568" y="1801368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1" name="Text 9"/>
          <p:cNvSpPr/>
          <p:nvPr/>
        </p:nvSpPr>
        <p:spPr>
          <a:xfrm>
            <a:off x="566928" y="262432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15568" y="2624328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&amp; Related Work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33756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4" name="Text 12"/>
          <p:cNvSpPr/>
          <p:nvPr/>
        </p:nvSpPr>
        <p:spPr>
          <a:xfrm>
            <a:off x="566928" y="344728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15568" y="3447288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Background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416052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7" name="Text 15"/>
          <p:cNvSpPr/>
          <p:nvPr/>
        </p:nvSpPr>
        <p:spPr>
          <a:xfrm>
            <a:off x="566928" y="427024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15568" y="4270248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Methodology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846320" y="86868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0" name="Text 18"/>
          <p:cNvSpPr/>
          <p:nvPr/>
        </p:nvSpPr>
        <p:spPr>
          <a:xfrm>
            <a:off x="4956048" y="97840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504688" y="978408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846320" y="169164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3" name="Text 21"/>
          <p:cNvSpPr/>
          <p:nvPr/>
        </p:nvSpPr>
        <p:spPr>
          <a:xfrm>
            <a:off x="4956048" y="180136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504688" y="1801368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Accuracy Metrics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846320" y="251460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6" name="Text 24"/>
          <p:cNvSpPr/>
          <p:nvPr/>
        </p:nvSpPr>
        <p:spPr>
          <a:xfrm>
            <a:off x="4956048" y="262432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04688" y="2624328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846320" y="333756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9" name="Text 27"/>
          <p:cNvSpPr/>
          <p:nvPr/>
        </p:nvSpPr>
        <p:spPr>
          <a:xfrm>
            <a:off x="4956048" y="344728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504688" y="3447288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Limitations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846320" y="416052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2" name="Text 30"/>
          <p:cNvSpPr/>
          <p:nvPr/>
        </p:nvSpPr>
        <p:spPr>
          <a:xfrm>
            <a:off x="4956048" y="427024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504688" y="4270248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82296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651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30175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1371600" y="3749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cybersecurity gap that AutoMITRE bridges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Cybersecurity Challenge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8229600" cy="2743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7" name="Text 5"/>
          <p:cNvSpPr/>
          <p:nvPr/>
        </p:nvSpPr>
        <p:spPr>
          <a:xfrm>
            <a:off x="594360" y="9144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8412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Fragmentation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05840" y="116128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TMT, OWASP Threat Dragon, IriusRisk, VirusTotal, SIEMs – all operate in isolation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1" name="Text 9"/>
          <p:cNvSpPr/>
          <p:nvPr/>
        </p:nvSpPr>
        <p:spPr>
          <a:xfrm>
            <a:off x="594360" y="19202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840" y="18470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Correlation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05840" y="216712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manually map findings across MITRE ATT&amp;CK, D3FEND, NIST 800-53 – slow &amp; error-prone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5" name="Text 13"/>
          <p:cNvSpPr/>
          <p:nvPr/>
        </p:nvSpPr>
        <p:spPr>
          <a:xfrm>
            <a:off x="594360" y="29260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05840" y="28529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Posture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05840" y="317296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describe what happened; none predict what comes next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79476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9" name="Text 17"/>
          <p:cNvSpPr/>
          <p:nvPr/>
        </p:nvSpPr>
        <p:spPr>
          <a:xfrm>
            <a:off x="594360" y="39319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05840" y="38587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Platform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05840" y="417880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AI-based tool unifies threat detection, mapping, mitigation &amp; SIEM export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– Why AutoMITRE?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8229600" cy="2743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822960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7" name="Text 5"/>
          <p:cNvSpPr/>
          <p:nvPr/>
        </p:nvSpPr>
        <p:spPr>
          <a:xfrm>
            <a:off x="731520" y="841248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2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threats are evolving faster than the tools designed to stop them – APTs, ransomware, insider attacks.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1591056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2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teams juggle 5+ specialized tools daily. Each produces siloed reports requiring manual cross-referencing.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2340864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2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alone catalogs 499+ techniques – no analyst can manually track all in real time.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3090672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2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fatigue in SOCs leads to missed detections and delayed incident response.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384048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2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AutoMITRE was born to bridge the gap: ONE unified, AI-driven platform that understands, maps, and mitigates.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82296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651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30175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1371600" y="3749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the research gap and project goals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8229600" cy="2743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8229600" cy="1554480"/>
          </a:xfrm>
          <a:prstGeom prst="roundRect">
            <a:avLst>
              <a:gd name="adj" fmla="val 7059"/>
            </a:avLst>
          </a:prstGeom>
          <a:solidFill>
            <a:srgbClr val="0D2240"/>
          </a:solidFill>
          <a:ln w="19050">
            <a:solidFill>
              <a:srgbClr val="00BFA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7" name="Text 5"/>
          <p:cNvSpPr/>
          <p:nvPr/>
        </p:nvSpPr>
        <p:spPr>
          <a:xfrm>
            <a:off x="777240" y="84124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Research Problem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161288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currently no unified, AI-based platform that can automatically analyze diverse cybersecurity inputs, map them to multiple frameworks, generate explainable mitigation strategies, and predict future threats — all while producing outputs compatible with SIEM tools.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487168"/>
            <a:ext cx="822960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0" name="Text 8"/>
          <p:cNvSpPr/>
          <p:nvPr/>
        </p:nvSpPr>
        <p:spPr>
          <a:xfrm>
            <a:off x="685800" y="25511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Analysis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825496"/>
            <a:ext cx="7680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only describe past events. No forecasting of future attack vectors.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310128"/>
            <a:ext cx="822960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3" name="Text 11"/>
          <p:cNvSpPr/>
          <p:nvPr/>
        </p:nvSpPr>
        <p:spPr>
          <a:xfrm>
            <a:off x="685800" y="33741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Mapping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3648456"/>
            <a:ext cx="7680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manually correlate findings across ATT&amp;CK, NIST, OWASP – error-prone.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133088"/>
            <a:ext cx="822960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6" name="Text 14"/>
          <p:cNvSpPr/>
          <p:nvPr/>
        </p:nvSpPr>
        <p:spPr>
          <a:xfrm>
            <a:off x="685800" y="41970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SIEM Interoperability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4471416"/>
            <a:ext cx="7680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can't natively export STIX 2.1 or structured JSON for SIEM ingestion.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8229600" cy="2743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7" name="Text 5"/>
          <p:cNvSpPr/>
          <p:nvPr/>
        </p:nvSpPr>
        <p:spPr>
          <a:xfrm>
            <a:off x="566928" y="8229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10241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Input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29844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text, JSON (TMT/IriusRisk), HTML reports, CSV/Excel, PCAP files, logs &amp; hashes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819656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1" name="Text 9"/>
          <p:cNvSpPr/>
          <p:nvPr/>
        </p:nvSpPr>
        <p:spPr>
          <a:xfrm>
            <a:off x="566928" y="18928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6928" y="20939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Threat Detection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236829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SecureBERT NLP + hybrid ML to extract, classify &amp; score threats automatically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889504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5" name="Text 13"/>
          <p:cNvSpPr/>
          <p:nvPr/>
        </p:nvSpPr>
        <p:spPr>
          <a:xfrm>
            <a:off x="566928" y="29626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6928" y="31638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Mapping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343814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Auto-map to MITRE ATT&amp;CK, D3FEND, NIST 800-53 &amp; OWASP ASVS simultaneously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959352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9" name="Text 17"/>
          <p:cNvSpPr/>
          <p:nvPr/>
        </p:nvSpPr>
        <p:spPr>
          <a:xfrm>
            <a:off x="566928" y="40325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6928" y="42336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Generation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" y="450799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actionable, step-by-step AI-driven remediation plans per detected threat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749808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3" name="Text 21"/>
          <p:cNvSpPr/>
          <p:nvPr/>
        </p:nvSpPr>
        <p:spPr>
          <a:xfrm>
            <a:off x="4956048" y="8229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FR7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56048" y="10241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Prediction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56048" y="129844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future attack vectors from historical patterns using adaptive ML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1819656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7" name="Text 25"/>
          <p:cNvSpPr/>
          <p:nvPr/>
        </p:nvSpPr>
        <p:spPr>
          <a:xfrm>
            <a:off x="4956048" y="18928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FR8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56048" y="20939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56048" y="236829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severity heatmaps, framework coverage &amp; trends via React/Recharts UI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2889504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1" name="Text 29"/>
          <p:cNvSpPr/>
          <p:nvPr/>
        </p:nvSpPr>
        <p:spPr>
          <a:xfrm>
            <a:off x="4956048" y="29626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FR9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56048" y="31638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Export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56048" y="343814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STIX 2.1, JSON &amp; CSV exports for direct ingestion into Splunk/QRadar/Wazuh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82296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651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30175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&amp; Related Work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1371600" y="3749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AutoMITRE among existing tools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– An Overview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8229600" cy="2743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82296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7" name="Text 5"/>
          <p:cNvSpPr/>
          <p:nvPr/>
        </p:nvSpPr>
        <p:spPr>
          <a:xfrm>
            <a:off x="685800" y="8412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TMT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112471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STRIDE-based threat modeling for design diagrams. No AI, no ATT&amp;CK mapping.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581912"/>
            <a:ext cx="82296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0" name="Text 8"/>
          <p:cNvSpPr/>
          <p:nvPr/>
        </p:nvSpPr>
        <p:spPr>
          <a:xfrm>
            <a:off x="685800" y="1645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Threat Dragon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" y="192938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visual modeler. STRIDE only. No multi-framework correlation.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386584"/>
            <a:ext cx="82296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3" name="Text 11"/>
          <p:cNvSpPr/>
          <p:nvPr/>
        </p:nvSpPr>
        <p:spPr>
          <a:xfrm>
            <a:off x="685800" y="2450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IriusRisk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85800" y="27340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rule-based engine. No AI. Limited free tier. Closed-source.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191256"/>
            <a:ext cx="82296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6" name="Text 14"/>
          <p:cNvSpPr/>
          <p:nvPr/>
        </p:nvSpPr>
        <p:spPr>
          <a:xfrm>
            <a:off x="685800" y="32552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VirusTotal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85800" y="353872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&amp; URL reputation scanning. No behavioral mapping or framework integration.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995928"/>
            <a:ext cx="82296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9" name="Text 17"/>
          <p:cNvSpPr/>
          <p:nvPr/>
        </p:nvSpPr>
        <p:spPr>
          <a:xfrm>
            <a:off x="685800" y="40599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SIEM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85800" y="4343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aggregation &amp; ML-based anomaly detection. Not a threat modeler.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Comparison Matrix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8229600" cy="2743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49808"/>
          <a:ext cx="8595360" cy="3973068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AI/NLP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Multi-Framework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 Gen.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SIEM Export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TMT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STRIDE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OWASP Threat Dragon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STRIDE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IriusRisk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STRIDE+NIST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VirusTotal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Splunk SIEM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Behavioral ML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AutoMITRE (Proposed)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AI+NLP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ATT&amp;CK+D3FEND+OWASP+NIST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AI-Generated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STIX 2.1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AutoMITRE's Unique Contribution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8229600" cy="2743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822960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7" name="Text 5"/>
          <p:cNvSpPr/>
          <p:nvPr/>
        </p:nvSpPr>
        <p:spPr>
          <a:xfrm>
            <a:off x="777240" y="896112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Unification  </a:t>
            </a: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platform to merge threat modeling + AI + multi-framework mapping + SIEM export into ONE pipeline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655064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 Ingestion  </a:t>
            </a: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text, JSON, HTML (IriusRisk), CSV/Excel, PCAP, logs, and MD5/SHA hashes simultaneously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414016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NLP  </a:t>
            </a: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SecureBERT – fine-tuned on cybersecurity corpora – not a generic language model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172968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RAG-Grounded AI  </a:t>
            </a: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vector DB anchors AI outputs to real MITRE/NIST knowledge – minimizes hallucinations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3931920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STIX 2.1 Export  </a:t>
            </a: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Enterprise-ready structured threat intelligence directly consumable by Splunk, QRadar, Wazuh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82296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651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30175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Background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1371600" y="3749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Frameworks, AI models &amp; key concepts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Frameworks Used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8229600" cy="2743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25400">
            <a:solidFill>
              <a:srgbClr val="00BFA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7" name="Text 5"/>
          <p:cNvSpPr/>
          <p:nvPr/>
        </p:nvSpPr>
        <p:spPr>
          <a:xfrm>
            <a:off x="685800" y="8412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188720"/>
            <a:ext cx="7680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Globally recognized adversary tactics &amp; techniques (499+ techniques). AutoMITRE maps every detected threat to specific ATT&amp;CK technique IDs (e.g., T1068 Privilege Escalation).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0" name="Text 8"/>
          <p:cNvSpPr/>
          <p:nvPr/>
        </p:nvSpPr>
        <p:spPr>
          <a:xfrm>
            <a:off x="685800" y="18470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D3FEND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194560"/>
            <a:ext cx="7680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 defensive framework. Links each ATT&amp;CK technique to countermeasures. AutoMITRE auto-recommends D3FEND mitigations upon detection.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3" name="Text 11"/>
          <p:cNvSpPr/>
          <p:nvPr/>
        </p:nvSpPr>
        <p:spPr>
          <a:xfrm>
            <a:off x="685800" y="28529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800-53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3200400"/>
            <a:ext cx="7680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privacy control catalog. AutoMITRE validates mitigations against NIST controls for compliance alignment (e.g., AC-6 Least Privilege).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79476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6" name="Text 14"/>
          <p:cNvSpPr/>
          <p:nvPr/>
        </p:nvSpPr>
        <p:spPr>
          <a:xfrm>
            <a:off x="685800" y="38587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ASVS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4206240"/>
            <a:ext cx="7680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Application-level security verification standard. Used for web-layer threats such as injection, XSS, and session management vulnerabilities.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NLP Engine – Key Technologies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8229600" cy="2743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82296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7" name="Text 5"/>
          <p:cNvSpPr/>
          <p:nvPr/>
        </p:nvSpPr>
        <p:spPr>
          <a:xfrm>
            <a:off x="685800" y="841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SecureBERT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1143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transformer fine-tuned on cybersecurity corpora. Powers threat classification &amp; severity scoring. Achieved 96.81% accuracy / 96.65% F1-Score.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618488"/>
            <a:ext cx="82296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0" name="Text 8"/>
          <p:cNvSpPr/>
          <p:nvPr/>
        </p:nvSpPr>
        <p:spPr>
          <a:xfrm>
            <a:off x="685800" y="16824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all-mpnet-base-v2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" y="19842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dense semantic embeddings for threat descriptions. Enables semantic similarity search against ATT&amp;CK and NIST databases.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459736"/>
            <a:ext cx="82296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3" name="Text 11"/>
          <p:cNvSpPr/>
          <p:nvPr/>
        </p:nvSpPr>
        <p:spPr>
          <a:xfrm>
            <a:off x="685800" y="25237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(LLaMA 3.1)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85800" y="2825496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LLM for complex reasoning, mitigation generation &amp; framework correlation. Ultra-fast inference: 0.8–1.2 seconds per request.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300984"/>
            <a:ext cx="82296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6" name="Text 14"/>
          <p:cNvSpPr/>
          <p:nvPr/>
        </p:nvSpPr>
        <p:spPr>
          <a:xfrm>
            <a:off x="685800" y="3364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Fallback: Phi-3.5-mini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85800" y="3666744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Quantized model (Q4_K_M) running via llama_cpp on Apple Metal MPS. Guarantees offline/air-gapped operation. Latency: 4.0–6.5 seconds.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142232"/>
            <a:ext cx="82296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9" name="Text 17"/>
          <p:cNvSpPr/>
          <p:nvPr/>
        </p:nvSpPr>
        <p:spPr>
          <a:xfrm>
            <a:off x="685800" y="4206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(RAG)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85800" y="450799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 storing MITRE/NIST knowledge embeddings. Retrieval-Augmented Generation grounds AI outputs in real threat intelligence – prevents hallucinations.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Systems &amp; Threat Intel Standards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8229600" cy="2743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3931920" cy="41605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7" name="Text 5"/>
          <p:cNvSpPr/>
          <p:nvPr/>
        </p:nvSpPr>
        <p:spPr>
          <a:xfrm>
            <a:off x="685800" y="868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Platforms Supported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26187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Enterprise Security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773936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QRadar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2860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79806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SIEM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331012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Sentinel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82219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ArcSight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749808"/>
            <a:ext cx="3931920" cy="41605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5" name="Text 13"/>
          <p:cNvSpPr/>
          <p:nvPr/>
        </p:nvSpPr>
        <p:spPr>
          <a:xfrm>
            <a:off x="4983480" y="868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Formats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12618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STIX 2.1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158191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Threat Information Expression — the industry standard for threat sharing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83480" y="245059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277063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machine-readable format for API-to-SIEM ingestion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36393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83480" y="395935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export compatible with any analytics platform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82296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651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30175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Methodology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1371600" y="3749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decisions, UML &amp; the processing pipeline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– High-Level View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8229600" cy="2743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457200" y="804672"/>
            <a:ext cx="8229600" cy="987552"/>
          </a:xfrm>
          <a:prstGeom prst="roundRect">
            <a:avLst>
              <a:gd name="adj" fmla="val 9259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7" name="Text 5"/>
          <p:cNvSpPr/>
          <p:nvPr/>
        </p:nvSpPr>
        <p:spPr>
          <a:xfrm>
            <a:off x="731520" y="89611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30759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+ Vite · Recharts · Lucide-React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93392"/>
            <a:ext cx="8229600" cy="987552"/>
          </a:xfrm>
          <a:prstGeom prst="roundRect">
            <a:avLst>
              <a:gd name="adj" fmla="val 9259"/>
            </a:avLst>
          </a:prstGeom>
          <a:solidFill>
            <a:srgbClr val="0D7E6A"/>
          </a:solidFill>
          <a:ln w="12700">
            <a:solidFill>
              <a:srgbClr val="0D7E6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0" name="Text 8"/>
          <p:cNvSpPr/>
          <p:nvPr/>
        </p:nvSpPr>
        <p:spPr>
          <a:xfrm>
            <a:off x="731520" y="208483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API Layer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49631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 · RESTful API · SQLAlchemy + SQLite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182112"/>
            <a:ext cx="8229600" cy="987552"/>
          </a:xfrm>
          <a:prstGeom prst="roundRect">
            <a:avLst>
              <a:gd name="adj" fmla="val 9259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3" name="Text 11"/>
          <p:cNvSpPr/>
          <p:nvPr/>
        </p:nvSpPr>
        <p:spPr>
          <a:xfrm>
            <a:off x="731520" y="327355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Intelligence Engine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36850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SecureBERT · ChromaDB (RAG) · Groq API · llama_cpp · Framework Mapper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34840" y="1783080"/>
            <a:ext cx="0" cy="201168"/>
          </a:xfrm>
          <a:prstGeom prst="line">
            <a:avLst/>
          </a:prstGeom>
          <a:noFill/>
          <a:ln w="254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6" name="Text 14"/>
          <p:cNvSpPr/>
          <p:nvPr/>
        </p:nvSpPr>
        <p:spPr>
          <a:xfrm>
            <a:off x="4251960" y="18288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434840" y="2971800"/>
            <a:ext cx="0" cy="201168"/>
          </a:xfrm>
          <a:prstGeom prst="line">
            <a:avLst/>
          </a:prstGeom>
          <a:noFill/>
          <a:ln w="254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8" name="Text 16"/>
          <p:cNvSpPr/>
          <p:nvPr/>
        </p:nvSpPr>
        <p:spPr>
          <a:xfrm>
            <a:off x="4251960" y="30175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315968"/>
            <a:ext cx="256032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0" name="Text 18"/>
          <p:cNvSpPr/>
          <p:nvPr/>
        </p:nvSpPr>
        <p:spPr>
          <a:xfrm>
            <a:off x="548640" y="43708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VirusTotal API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91840" y="4315968"/>
            <a:ext cx="256032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2" name="Text 20"/>
          <p:cNvSpPr/>
          <p:nvPr/>
        </p:nvSpPr>
        <p:spPr>
          <a:xfrm>
            <a:off x="3383280" y="43708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/ STIX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26480" y="4315968"/>
            <a:ext cx="256032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4" name="Text 22"/>
          <p:cNvSpPr/>
          <p:nvPr/>
        </p:nvSpPr>
        <p:spPr>
          <a:xfrm>
            <a:off x="6217920" y="43708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Platforms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 Input Pipeline &amp; Intake Router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8229600" cy="2743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3474720" cy="4114800"/>
          </a:xfrm>
          <a:prstGeom prst="roundRect">
            <a:avLst>
              <a:gd name="adj" fmla="val 2632"/>
            </a:avLst>
          </a:prstGeom>
          <a:solidFill>
            <a:srgbClr val="0D2240"/>
          </a:solidFill>
          <a:ln w="19050">
            <a:solidFill>
              <a:srgbClr val="00BFA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Sources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261872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/ Threat Reports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1773936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(TMT / IriusRisk / Threat Dragon)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228600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Reports (IriusRisk Risk &amp; Tech Threat)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798064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Excel Tabular Data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3310128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PCAP Network Captures (Scapy)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3822192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Hashes (VirusTotal API)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4334256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/ Application Logs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86200" y="23774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4572000" y="777240"/>
            <a:ext cx="41148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7" name="Text 15"/>
          <p:cNvSpPr/>
          <p:nvPr/>
        </p:nvSpPr>
        <p:spPr>
          <a:xfrm>
            <a:off x="4754880" y="868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Router &amp; Parsers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12801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HTML/XML Parser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754880" y="15361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BeautifulSoup – extracts IriusRisk summary/technical reports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20116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PCAP Parser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54880" y="22677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Scapy multi-threaded deep packet inspection → network behaviors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27432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CSV/JSON Parser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54880" y="29992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Normalizes tabular threat data &amp; threat modeling exports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34747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Pipeline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754880" y="37307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VirusTotal API integration → malware reputation lookup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42062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Schema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754880" y="44622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outputs normalized to internal threat JSON schema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Processing Pipeline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8229600" cy="2743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7" name="Shape 5"/>
          <p:cNvSpPr/>
          <p:nvPr/>
        </p:nvSpPr>
        <p:spPr>
          <a:xfrm>
            <a:off x="502920" y="813816"/>
            <a:ext cx="438912" cy="438912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8" name="Text 6"/>
          <p:cNvSpPr/>
          <p:nvPr/>
        </p:nvSpPr>
        <p:spPr>
          <a:xfrm>
            <a:off x="502920" y="8138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8138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Input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106984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threat JSON from Intake Router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380744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2" name="Shape 10"/>
          <p:cNvSpPr/>
          <p:nvPr/>
        </p:nvSpPr>
        <p:spPr>
          <a:xfrm>
            <a:off x="502920" y="1444752"/>
            <a:ext cx="438912" cy="438912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3" name="Text 11"/>
          <p:cNvSpPr/>
          <p:nvPr/>
        </p:nvSpPr>
        <p:spPr>
          <a:xfrm>
            <a:off x="502920" y="14447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14447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SecureBERT Classification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170078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NLP classifies threat type + assigns severity score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01168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7" name="Shape 15"/>
          <p:cNvSpPr/>
          <p:nvPr/>
        </p:nvSpPr>
        <p:spPr>
          <a:xfrm>
            <a:off x="502920" y="2075688"/>
            <a:ext cx="438912" cy="438912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8" name="Text 16"/>
          <p:cNvSpPr/>
          <p:nvPr/>
        </p:nvSpPr>
        <p:spPr>
          <a:xfrm>
            <a:off x="502920" y="20756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20756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Embedding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23317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all-mpnet-base-v2 generates dense vector representations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642616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2" name="Shape 20"/>
          <p:cNvSpPr/>
          <p:nvPr/>
        </p:nvSpPr>
        <p:spPr>
          <a:xfrm>
            <a:off x="502920" y="2706624"/>
            <a:ext cx="438912" cy="438912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3" name="Text 21"/>
          <p:cNvSpPr/>
          <p:nvPr/>
        </p:nvSpPr>
        <p:spPr>
          <a:xfrm>
            <a:off x="502920" y="27066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2706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51560" y="296265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queries relevant MITRE/NIST context (150–250ms avg)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273552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7" name="Shape 25"/>
          <p:cNvSpPr/>
          <p:nvPr/>
        </p:nvSpPr>
        <p:spPr>
          <a:xfrm>
            <a:off x="502920" y="3337560"/>
            <a:ext cx="438912" cy="438912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8" name="Text 26"/>
          <p:cNvSpPr/>
          <p:nvPr/>
        </p:nvSpPr>
        <p:spPr>
          <a:xfrm>
            <a:off x="502920" y="33375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51560" y="3337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Reasoning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51560" y="359359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3.1 (cloud) or Phi-3.5-mini (local) generates mitigations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904488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2" name="Shape 30"/>
          <p:cNvSpPr/>
          <p:nvPr/>
        </p:nvSpPr>
        <p:spPr>
          <a:xfrm>
            <a:off x="502920" y="3968496"/>
            <a:ext cx="438912" cy="438912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3" name="Text 31"/>
          <p:cNvSpPr/>
          <p:nvPr/>
        </p:nvSpPr>
        <p:spPr>
          <a:xfrm>
            <a:off x="502920" y="396849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51560" y="39684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Mapper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51560" y="422452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 → ATT&amp;CK + D3FEND + NIST + OWASP IDs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535424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7" name="Shape 35"/>
          <p:cNvSpPr/>
          <p:nvPr/>
        </p:nvSpPr>
        <p:spPr>
          <a:xfrm>
            <a:off x="502920" y="4599432"/>
            <a:ext cx="438912" cy="438912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8" name="Text 36"/>
          <p:cNvSpPr/>
          <p:nvPr/>
        </p:nvSpPr>
        <p:spPr>
          <a:xfrm>
            <a:off x="502920" y="45994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51560" y="45994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&amp; Export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51560" y="485546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STIX 2.1 / JSON / CSV for SIEM ingestion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 &amp; Standards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8229600" cy="2743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82296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7" name="Text 5"/>
          <p:cNvSpPr/>
          <p:nvPr/>
        </p:nvSpPr>
        <p:spPr>
          <a:xfrm>
            <a:off x="685800" y="841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AI Approach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017520" y="841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+ ML + LLM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1887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 all worlds: explainability + adaptability + complex reasoning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618488"/>
            <a:ext cx="82296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1" name="Text 9"/>
          <p:cNvSpPr/>
          <p:nvPr/>
        </p:nvSpPr>
        <p:spPr>
          <a:xfrm>
            <a:off x="685800" y="16824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Multi-Framework Mapping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017520" y="16824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ATT&amp;CK + D3FEND + NIST + OWASP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202996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Holistic coverage from attack detection to compliance alignment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459736"/>
            <a:ext cx="82296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5" name="Text 13"/>
          <p:cNvSpPr/>
          <p:nvPr/>
        </p:nvSpPr>
        <p:spPr>
          <a:xfrm>
            <a:off x="685800" y="25237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017520" y="25237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vector database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287121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Grounds AI in verified knowledge – prevents hallucinations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300984"/>
            <a:ext cx="82296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9" name="Text 17"/>
          <p:cNvSpPr/>
          <p:nvPr/>
        </p:nvSpPr>
        <p:spPr>
          <a:xfrm>
            <a:off x="685800" y="3364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+ Local LLM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017520" y="3364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(primary) + llama_cpp (fallback)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371246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speed in connected mode; air-gapped resilience offline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4142232"/>
            <a:ext cx="82296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3" name="Text 21"/>
          <p:cNvSpPr/>
          <p:nvPr/>
        </p:nvSpPr>
        <p:spPr>
          <a:xfrm>
            <a:off x="685800" y="4206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Backend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017520" y="4206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aiosqlite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" y="455371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I/O handles concurrent analyst requests efficiently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4892040"/>
            <a:ext cx="8229600" cy="27432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7" name="Text 25"/>
          <p:cNvSpPr/>
          <p:nvPr/>
        </p:nvSpPr>
        <p:spPr>
          <a:xfrm>
            <a:off x="594360" y="4910328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Standards: IEEE 830 (SRS) · IEEE 829 (Testing) · IEEE 12207 (SDLC) · STIX/TAXII · MITRE ATT&amp;CK · NIST SP 800-53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82296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651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30175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1371600" y="3749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Stack, modules &amp; code-level breakdown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8229600" cy="2743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7" name="Text 5"/>
          <p:cNvSpPr/>
          <p:nvPr/>
        </p:nvSpPr>
        <p:spPr>
          <a:xfrm>
            <a:off x="640080" y="868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12527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3.13+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1554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 (ASGI)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18562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+ aiosqlite (SQLite DB)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215798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Scapy (PCAP analysis)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245973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BeautifulSoup (HTML parsing)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777240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4" name="Text 12"/>
          <p:cNvSpPr/>
          <p:nvPr/>
        </p:nvSpPr>
        <p:spPr>
          <a:xfrm>
            <a:off x="5029200" y="868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029200" y="12527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SecureBERT (Hugging Face)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0" y="1554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all-mpnet-base-v2 (embeddings)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0" y="18562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– LLaMA 3.1-8b-instant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0" y="215798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llama_cpp + Phi-3.5-mini (local)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0" y="245973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(RAG vector DB)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971800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1" name="Text 19"/>
          <p:cNvSpPr/>
          <p:nvPr/>
        </p:nvSpPr>
        <p:spPr>
          <a:xfrm>
            <a:off x="640080" y="3063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0080" y="34472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18 + Vite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37490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(data visualization)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" y="40507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Lucide-React (icons)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" y="43525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Modules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46320" y="2971800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7" name="Text 25"/>
          <p:cNvSpPr/>
          <p:nvPr/>
        </p:nvSpPr>
        <p:spPr>
          <a:xfrm>
            <a:off x="5029200" y="3063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&amp; Standards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029200" y="34472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STIX 2.1 (stix2 library)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0" y="37490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/ CSV export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0" y="40507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STIX/TAXII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29200" y="43525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ASVS + NIST 800-53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Architecture &amp; Module Structure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8229600" cy="2743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822960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7" name="Text 5"/>
          <p:cNvSpPr/>
          <p:nvPr/>
        </p:nvSpPr>
        <p:spPr>
          <a:xfrm>
            <a:off x="731520" y="8961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backend/core/ai_threat_analyzer.py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892040" y="8961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rule+ML+NLP threat detection orchestrator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3533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backend/core/llm_engine.py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92040" y="13533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+ local llama_cpp fallback reasoning engine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18105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backend/core/secbert_classifier.py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92040" y="18105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SecureBERT threat classification &amp; severity scoring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22677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backend/core/framework_mapper.py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92040" y="22677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 → ATT&amp;CK / D3FEND / NIST / OWASP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" y="2724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backend/api/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92040" y="27249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route definitions (upload, dashboard, extract, export)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1520" y="31821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backend/data/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92040" y="31821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MITRE/NIST JSON mapping files + ChromaDB embeddings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1520" y="36393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backend/database/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92040" y="36393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ORM: threat_records, mitigations, predictions, audit_logs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31520" y="40965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frontend/src/pages/ &amp; components/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92040" y="40965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dashboard, upload modal, results views, charts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– Core Entities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8229600" cy="2743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2560320" cy="530352"/>
          </a:xfrm>
          <a:prstGeom prst="roundRect">
            <a:avLst>
              <a:gd name="adj" fmla="val 10345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8" name="Text 6"/>
          <p:cNvSpPr/>
          <p:nvPr/>
        </p:nvSpPr>
        <p:spPr>
          <a:xfrm>
            <a:off x="594360" y="9052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 / groups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54680" y="9052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multi-tenant analyst access control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380744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1" name="Shape 9"/>
          <p:cNvSpPr/>
          <p:nvPr/>
        </p:nvSpPr>
        <p:spPr>
          <a:xfrm>
            <a:off x="457200" y="1380744"/>
            <a:ext cx="2560320" cy="530352"/>
          </a:xfrm>
          <a:prstGeom prst="roundRect">
            <a:avLst>
              <a:gd name="adj" fmla="val 10345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2" name="Text 10"/>
          <p:cNvSpPr/>
          <p:nvPr/>
        </p:nvSpPr>
        <p:spPr>
          <a:xfrm>
            <a:off x="594360" y="1508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threat_records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54680" y="15087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table – all detected threats, metadata, risk scores, input source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1984248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5" name="Shape 13"/>
          <p:cNvSpPr/>
          <p:nvPr/>
        </p:nvSpPr>
        <p:spPr>
          <a:xfrm>
            <a:off x="457200" y="1984248"/>
            <a:ext cx="2560320" cy="530352"/>
          </a:xfrm>
          <a:prstGeom prst="roundRect">
            <a:avLst>
              <a:gd name="adj" fmla="val 10345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6" name="Text 14"/>
          <p:cNvSpPr/>
          <p:nvPr/>
        </p:nvSpPr>
        <p:spPr>
          <a:xfrm>
            <a:off x="594360" y="21122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threat_entities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154680" y="211226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actors, components, artifacts linked to parent threats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587752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9" name="Shape 17"/>
          <p:cNvSpPr/>
          <p:nvPr/>
        </p:nvSpPr>
        <p:spPr>
          <a:xfrm>
            <a:off x="457200" y="2587752"/>
            <a:ext cx="2560320" cy="530352"/>
          </a:xfrm>
          <a:prstGeom prst="roundRect">
            <a:avLst>
              <a:gd name="adj" fmla="val 10345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0" name="Text 18"/>
          <p:cNvSpPr/>
          <p:nvPr/>
        </p:nvSpPr>
        <p:spPr>
          <a:xfrm>
            <a:off x="594360" y="2715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threat_techniques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154680" y="271576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ATT&amp;CK technique IDs &amp; sub-techniques mapped per threat record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191256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3" name="Shape 21"/>
          <p:cNvSpPr/>
          <p:nvPr/>
        </p:nvSpPr>
        <p:spPr>
          <a:xfrm>
            <a:off x="457200" y="3191256"/>
            <a:ext cx="2560320" cy="530352"/>
          </a:xfrm>
          <a:prstGeom prst="roundRect">
            <a:avLst>
              <a:gd name="adj" fmla="val 10345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4" name="Text 22"/>
          <p:cNvSpPr/>
          <p:nvPr/>
        </p:nvSpPr>
        <p:spPr>
          <a:xfrm>
            <a:off x="594360" y="33192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threat_mitigations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154680" y="331927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defensive actions (D3FEND / NIST mapped)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79476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7" name="Shape 25"/>
          <p:cNvSpPr/>
          <p:nvPr/>
        </p:nvSpPr>
        <p:spPr>
          <a:xfrm>
            <a:off x="457200" y="3794760"/>
            <a:ext cx="2560320" cy="530352"/>
          </a:xfrm>
          <a:prstGeom prst="roundRect">
            <a:avLst>
              <a:gd name="adj" fmla="val 10345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8" name="Text 26"/>
          <p:cNvSpPr/>
          <p:nvPr/>
        </p:nvSpPr>
        <p:spPr>
          <a:xfrm>
            <a:off x="594360" y="39227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threat_predicted_steps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154680" y="392277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Forecasted future attack vectors per historical pattern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398264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1" name="Shape 29"/>
          <p:cNvSpPr/>
          <p:nvPr/>
        </p:nvSpPr>
        <p:spPr>
          <a:xfrm>
            <a:off x="457200" y="4398264"/>
            <a:ext cx="2560320" cy="530352"/>
          </a:xfrm>
          <a:prstGeom prst="roundRect">
            <a:avLst>
              <a:gd name="adj" fmla="val 10345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2" name="Text 30"/>
          <p:cNvSpPr/>
          <p:nvPr/>
        </p:nvSpPr>
        <p:spPr>
          <a:xfrm>
            <a:off x="594360" y="4526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osint_feed_items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154680" y="45262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VirusTotal hash lookup cache – reduces API rate limit exposure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– Interactive Dashboard Features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8229600" cy="2743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7" name="Text 5"/>
          <p:cNvSpPr/>
          <p:nvPr/>
        </p:nvSpPr>
        <p:spPr>
          <a:xfrm>
            <a:off x="640080" y="8503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Dashboard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18872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view of all detected threats with severity scores and ATT&amp;CK technique IDs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0" name="Text 8"/>
          <p:cNvSpPr/>
          <p:nvPr/>
        </p:nvSpPr>
        <p:spPr>
          <a:xfrm>
            <a:off x="640080" y="1901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Coverage Map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24028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heatmap showing MITRE ATT&amp;CK tactic coverage across analyzed inputs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3" name="Text 11"/>
          <p:cNvSpPr/>
          <p:nvPr/>
        </p:nvSpPr>
        <p:spPr>
          <a:xfrm>
            <a:off x="640080" y="29535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Heatmaps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29184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Recharts-powered visual distribution of threat severity across categories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6" name="Text 14"/>
          <p:cNvSpPr/>
          <p:nvPr/>
        </p:nvSpPr>
        <p:spPr>
          <a:xfrm>
            <a:off x="640080" y="40050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Trend Analysis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34340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charts tracking emerging threat patterns and prediction forecasts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77724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9" name="Text 17"/>
          <p:cNvSpPr/>
          <p:nvPr/>
        </p:nvSpPr>
        <p:spPr>
          <a:xfrm>
            <a:off x="5029200" y="8503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Panel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118872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Expandable step-by-step AI-generated remediation cards per detected threat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182880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2" name="Text 20"/>
          <p:cNvSpPr/>
          <p:nvPr/>
        </p:nvSpPr>
        <p:spPr>
          <a:xfrm>
            <a:off x="5029200" y="1901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Export Controls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0" y="224028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STIX 2.1 / JSON / CSV download buttons with audit logging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288036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5" name="Text 23"/>
          <p:cNvSpPr/>
          <p:nvPr/>
        </p:nvSpPr>
        <p:spPr>
          <a:xfrm>
            <a:off x="5029200" y="29535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 Interface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0" y="329184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upload with real-time AI loading states and error feedback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82296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651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30175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Accuracy Metrics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1371600" y="3749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performance of the AI models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– Headline Performance Metrics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8229600" cy="2743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457200" y="804672"/>
            <a:ext cx="1920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7" name="Text 5"/>
          <p:cNvSpPr/>
          <p:nvPr/>
        </p:nvSpPr>
        <p:spPr>
          <a:xfrm>
            <a:off x="457200" y="896112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96.81%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Classification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(SecureBERT)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60320" y="804672"/>
            <a:ext cx="1920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0" name="Text 8"/>
          <p:cNvSpPr/>
          <p:nvPr/>
        </p:nvSpPr>
        <p:spPr>
          <a:xfrm>
            <a:off x="2560320" y="896112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96.65%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560320" y="1719072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– Core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Classifier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804672"/>
            <a:ext cx="1920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3" name="Text 11"/>
          <p:cNvSpPr/>
          <p:nvPr/>
        </p:nvSpPr>
        <p:spPr>
          <a:xfrm>
            <a:off x="4663440" y="896112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98.41%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663440" y="1719072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Mapping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(D3FEND / NIST)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766560" y="804672"/>
            <a:ext cx="1920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6" name="Text 14"/>
          <p:cNvSpPr/>
          <p:nvPr/>
        </p:nvSpPr>
        <p:spPr>
          <a:xfrm>
            <a:off x="6766560" y="896112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84.06%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766560" y="1719072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ATT&amp;CK Technique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Accuracy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78892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EFF6FF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9" name="Text 17"/>
          <p:cNvSpPr/>
          <p:nvPr/>
        </p:nvSpPr>
        <p:spPr>
          <a:xfrm>
            <a:off x="685800" y="28803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Dataset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320040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20,736 </a:t>
            </a: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threat narratives evaluated against </a:t>
            </a:r>
            <a:r>
              <a:rPr lang="en-US" sz="18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499 </a:t>
            </a: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MITRE ATT&amp;CK techniques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3611880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 14,936 training · 2,630 validation · 3,170 testing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114800"/>
            <a:ext cx="822960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3" name="Text 21"/>
          <p:cNvSpPr/>
          <p:nvPr/>
        </p:nvSpPr>
        <p:spPr>
          <a:xfrm>
            <a:off x="685800" y="4224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Latency: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" y="44988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(cloud): 0.8–1.2 sec/request  |  Local Phi-3.5 (M1 Metal): 4.0–6.5 sec/request  |  ChromaDB RAG: 150–250ms/query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– Module-by-Module Breakdown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8229600" cy="2743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7" name="Text 5"/>
          <p:cNvSpPr/>
          <p:nvPr/>
        </p:nvSpPr>
        <p:spPr>
          <a:xfrm>
            <a:off x="640080" y="8503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Classification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971800" y="8503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SecureBERT hybrid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212080" y="85039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96.81% Accuracy · 96.65% F1-Score · 95.22% Severity Scoring Accuracy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380744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1" name="Text 9"/>
          <p:cNvSpPr/>
          <p:nvPr/>
        </p:nvSpPr>
        <p:spPr>
          <a:xfrm>
            <a:off x="640080" y="14538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Correlation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971800" y="14538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embedding + ChromaDB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12080" y="145389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98.41% D3FEND &amp; NIST 800-53 mapping accuracy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1984248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5" name="Text 13"/>
          <p:cNvSpPr/>
          <p:nvPr/>
        </p:nvSpPr>
        <p:spPr>
          <a:xfrm>
            <a:off x="640080" y="20574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ATT&amp;CK Mapping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971800" y="20574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framework_mapper.py – cosine similarity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12080" y="20574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84.06% accuracy across 499 ATT&amp;CK techniques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587752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9" name="Text 17"/>
          <p:cNvSpPr/>
          <p:nvPr/>
        </p:nvSpPr>
        <p:spPr>
          <a:xfrm>
            <a:off x="640080" y="26609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PCAP Anomaly Detection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971800" y="26609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Scapy + behavioral heuristics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12080" y="266090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63.20% baseline behavioral accuracy on unseen traffic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191256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3" name="Text 21"/>
          <p:cNvSpPr/>
          <p:nvPr/>
        </p:nvSpPr>
        <p:spPr>
          <a:xfrm>
            <a:off x="640080" y="32644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Anomaly Detection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971800" y="32644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 analyzer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12080" y="326440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~100% accuracy on known threat validation holdout sets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379476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7" name="Text 25"/>
          <p:cNvSpPr/>
          <p:nvPr/>
        </p:nvSpPr>
        <p:spPr>
          <a:xfrm>
            <a:off x="640080" y="38679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Resilience (Fallback)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971800" y="38679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llama_cpp Phi-3.5-mini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12080" y="386791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successful fallback on Groq API timeout (TC-33: PASS)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398264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1" name="Text 29"/>
          <p:cNvSpPr/>
          <p:nvPr/>
        </p:nvSpPr>
        <p:spPr>
          <a:xfrm>
            <a:off x="640080" y="44714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Export Validation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971800" y="44714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stix2 library + Postman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12080" y="447141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STIX 2.1 export success rate – all 37 test cases PASS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 – Validation Results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8229600" cy="2743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7" name="Text 5"/>
          <p:cNvSpPr/>
          <p:nvPr/>
        </p:nvSpPr>
        <p:spPr>
          <a:xfrm>
            <a:off x="640080" y="8869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NFR1 – Performance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88920" y="8869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Text: ≤5s · PCAP &lt;50MB: ≤15s · PCAP 50-200MB: ≤30s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80960" y="886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325880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1" name="Text 9"/>
          <p:cNvSpPr/>
          <p:nvPr/>
        </p:nvSpPr>
        <p:spPr>
          <a:xfrm>
            <a:off x="640080" y="14356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NFR2 – Availability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88920" y="14356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95–98% uptime; achieved via Docker restart tests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680960" y="14356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1874520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5" name="Text 13"/>
          <p:cNvSpPr/>
          <p:nvPr/>
        </p:nvSpPr>
        <p:spPr>
          <a:xfrm>
            <a:off x="640080" y="19842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NFR3 – Scalability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88920" y="198424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concurrent Locust users handled without linear failure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680960" y="19842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423160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9" name="Text 17"/>
          <p:cNvSpPr/>
          <p:nvPr/>
        </p:nvSpPr>
        <p:spPr>
          <a:xfrm>
            <a:off x="640080" y="25328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NFR4 – Reliability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88920" y="253288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timeout → seamless Phi-3.5 fallback; no crashes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680960" y="25328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971800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3" name="Text 21"/>
          <p:cNvSpPr/>
          <p:nvPr/>
        </p:nvSpPr>
        <p:spPr>
          <a:xfrm>
            <a:off x="640080" y="30815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NFR5 – Security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88920" y="308152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&gt;95% input sanitization coverage; OWASP ZAP validated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680960" y="3081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520440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7" name="Text 25"/>
          <p:cNvSpPr/>
          <p:nvPr/>
        </p:nvSpPr>
        <p:spPr>
          <a:xfrm>
            <a:off x="640080" y="36301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NFR6 – Usability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88920" y="36301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&gt;90% task completion rate; &lt;10 min analyst learning time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680960" y="36301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069080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1" name="Text 29"/>
          <p:cNvSpPr/>
          <p:nvPr/>
        </p:nvSpPr>
        <p:spPr>
          <a:xfrm>
            <a:off x="640080" y="41788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NFR7 – Maintainability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88920" y="41788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modularity; avg bug fix time &lt;1 day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680960" y="41788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617720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35" name="Text 33"/>
          <p:cNvSpPr/>
          <p:nvPr/>
        </p:nvSpPr>
        <p:spPr>
          <a:xfrm>
            <a:off x="640080" y="47274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NFR8 – Interoperability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788920" y="472744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STIX 2.1 / JSON / CSV export success in Splunk sim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680960" y="47274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82296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651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30175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1371600" y="3749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829 test plan · 37 test cases · all PASS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Strategy – IEEE 829 Compliance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8229600" cy="2743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822960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7" name="Text 5"/>
          <p:cNvSpPr/>
          <p:nvPr/>
        </p:nvSpPr>
        <p:spPr>
          <a:xfrm>
            <a:off x="685800" y="8412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&amp; Integration Testing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17043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Python test scripts (test_analyzer.py, test_severity.py, test_endpoints.py) validate individual modules and API request/response cycles.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627632"/>
            <a:ext cx="822960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0" name="Text 8"/>
          <p:cNvSpPr/>
          <p:nvPr/>
        </p:nvSpPr>
        <p:spPr>
          <a:xfrm>
            <a:off x="685800" y="1691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Quantitative Evaluation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020824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test_accuracy.py + evaluate_pipeline.py on curated dataset of 20,736 threat narratives. Pass/Fail threshold: F1-Score ≥ 90%.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478024"/>
            <a:ext cx="822960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3" name="Text 11"/>
          <p:cNvSpPr/>
          <p:nvPr/>
        </p:nvSpPr>
        <p:spPr>
          <a:xfrm>
            <a:off x="685800" y="2542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&amp; E2E Testing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2871216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uploaded PCAP files, IriusRisk HTML summaries, and raw text through the React UI. Verified dashboard population and SIEM export downloads.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328416"/>
            <a:ext cx="822960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6" name="Text 14"/>
          <p:cNvSpPr/>
          <p:nvPr/>
        </p:nvSpPr>
        <p:spPr>
          <a:xfrm>
            <a:off x="685800" y="33924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3721608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JMeter + Locust simulated 20 concurrent users. Python time + cProfile for latency profiling.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178808"/>
            <a:ext cx="822960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9" name="Text 17"/>
          <p:cNvSpPr/>
          <p:nvPr/>
        </p:nvSpPr>
        <p:spPr>
          <a:xfrm>
            <a:off x="685800" y="42428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457200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ZAP + Burp Suite Community Edition for input sanitization and privilege escalation validation.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Test Cases – Critical Scenarios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8229600" cy="2743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49808"/>
          <a:ext cx="8412480" cy="4535424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FR4.1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Text: 'mimikatz to dump memory'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Extracts: OS Credential Dumping (T1003)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FR5.1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Identified threat event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Maps to ATT&amp;CK technique (e.g., T1105)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FR6.1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 context payload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Groq AI generates step-by-step mitigation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FR9.1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to SIEM click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Downloads valid STIX 2.1 JSON &amp; CSV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NFR4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Groq API simulated timeout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Switches to local Phi-3.5 — no crash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NFR5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with XSS script payload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Rejects + sanitizes · &gt;95% coverage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NFR8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Generated STIX 2.1 JSON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Splunk-simulated ingestion success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82296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651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30175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Limitations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1371600" y="3749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results mean and honest constraints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– Key Findings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8229600" cy="2743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822960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7" name="Shape 5"/>
          <p:cNvSpPr/>
          <p:nvPr/>
        </p:nvSpPr>
        <p:spPr>
          <a:xfrm>
            <a:off x="521208" y="932688"/>
            <a:ext cx="420624" cy="420624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8" name="Text 6"/>
          <p:cNvSpPr/>
          <p:nvPr/>
        </p:nvSpPr>
        <p:spPr>
          <a:xfrm>
            <a:off x="521208" y="9326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78992" y="8412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Shapes Architecture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78992" y="11704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8GB M1 RAM constraint directly drove the cloud/local hybrid AI design. This produced an unexpectedly resilient system with offline capability.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27632"/>
            <a:ext cx="822960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2" name="Shape 10"/>
          <p:cNvSpPr/>
          <p:nvPr/>
        </p:nvSpPr>
        <p:spPr>
          <a:xfrm>
            <a:off x="521208" y="1783080"/>
            <a:ext cx="420624" cy="420624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3" name="Text 11"/>
          <p:cNvSpPr/>
          <p:nvPr/>
        </p:nvSpPr>
        <p:spPr>
          <a:xfrm>
            <a:off x="521208" y="17830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78992" y="16916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Reduces Hallucinations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78992" y="202082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RAG anchors all AI outputs to verified MITRE/NIST knowledge bases, solving the critical hallucination problem common in generative security tools.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478024"/>
            <a:ext cx="822960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7" name="Shape 15"/>
          <p:cNvSpPr/>
          <p:nvPr/>
        </p:nvSpPr>
        <p:spPr>
          <a:xfrm>
            <a:off x="521208" y="2633472"/>
            <a:ext cx="420624" cy="420624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8" name="Text 16"/>
          <p:cNvSpPr/>
          <p:nvPr/>
        </p:nvSpPr>
        <p:spPr>
          <a:xfrm>
            <a:off x="521208" y="26334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78992" y="25420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SecureBERT Outperforms Generic LLMs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78992" y="287121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NLP (96.65% F1) vastly exceeds what generic GPT-style models achieve on raw cybersecurity classification tasks.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328416"/>
            <a:ext cx="822960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2" name="Shape 20"/>
          <p:cNvSpPr/>
          <p:nvPr/>
        </p:nvSpPr>
        <p:spPr>
          <a:xfrm>
            <a:off x="521208" y="3483864"/>
            <a:ext cx="420624" cy="420624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3" name="Text 21"/>
          <p:cNvSpPr/>
          <p:nvPr/>
        </p:nvSpPr>
        <p:spPr>
          <a:xfrm>
            <a:off x="521208" y="34838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78992" y="33924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STIX 2.1 Confirms Operational Viability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78992" y="3721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SIEM export (100%) bridges the academic-to-enterprise gap, proving AutoMITRE is production-ready in its export capability.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178808"/>
            <a:ext cx="822960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7" name="Shape 25"/>
          <p:cNvSpPr/>
          <p:nvPr/>
        </p:nvSpPr>
        <p:spPr>
          <a:xfrm>
            <a:off x="521208" y="4334256"/>
            <a:ext cx="420624" cy="420624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8" name="Text 26"/>
          <p:cNvSpPr/>
          <p:nvPr/>
        </p:nvSpPr>
        <p:spPr>
          <a:xfrm>
            <a:off x="521208" y="433425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78992" y="42428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PCAP at Scale is the Next Challenge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78992" y="4572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63.2% PCAP baseline accuracy on hardware-constrained setup; distributed frameworks (Apache Spark) needed for enterprise-scale packet analysis.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Acknowledged Limitations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8229600" cy="2743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7" name="Text 5"/>
          <p:cNvSpPr/>
          <p:nvPr/>
        </p:nvSpPr>
        <p:spPr>
          <a:xfrm>
            <a:off x="594360" y="9144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841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Memory Ceiling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97280" y="1216152"/>
            <a:ext cx="7315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on Apple M1 with 8GB RAM. Local LLM inference (Phi-3.5-mini) adds 4–6.5s latency. &gt;5 concurrent local processes hits compute threshold.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801368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1" name="Text 9"/>
          <p:cNvSpPr/>
          <p:nvPr/>
        </p:nvSpPr>
        <p:spPr>
          <a:xfrm>
            <a:off x="594360" y="193852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97280" y="18653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API Dependency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97280" y="2240280"/>
            <a:ext cx="7315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and VirusTotal API are external dependencies. Rate limiting can throttle batch processing jobs in high-volume scenarios.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25496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5" name="Text 13"/>
          <p:cNvSpPr/>
          <p:nvPr/>
        </p:nvSpPr>
        <p:spPr>
          <a:xfrm>
            <a:off x="594360" y="296265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97280" y="288950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PCAP Scale Bottleneck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97280" y="3264408"/>
            <a:ext cx="7315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Scapy-based parser performs well up to 100MB PCAP files. Unsegmented enterprise-scale captures require streaming engines not yet implemented.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849624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9" name="Text 17"/>
          <p:cNvSpPr/>
          <p:nvPr/>
        </p:nvSpPr>
        <p:spPr>
          <a:xfrm>
            <a:off x="594360" y="398678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97280" y="39136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vs. Production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97280" y="4288536"/>
            <a:ext cx="7315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semester deadline required prioritizing core features. Extensive load testing and production hardening are deferred to future work.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82296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651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30175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1371600" y="3749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 and where AutoMITRE goes next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8229600" cy="2743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0D2240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7" name="Text 5"/>
          <p:cNvSpPr/>
          <p:nvPr/>
        </p:nvSpPr>
        <p:spPr>
          <a:xfrm>
            <a:off x="685800" y="850392"/>
            <a:ext cx="7680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1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AutoMITRE successfully unifies threat modeling, AI analysis, multi-framework mapping, and SIEM export into a single open-source platform.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0D2240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9" name="Text 7"/>
          <p:cNvSpPr/>
          <p:nvPr/>
        </p:nvSpPr>
        <p:spPr>
          <a:xfrm>
            <a:off x="685800" y="1655064"/>
            <a:ext cx="7680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1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hybrid SecureBERT + RAG + LLM architecture achieved 96.65% F1-Score on 20,736 threat narratives against 499 ATT&amp;CK techniques.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359152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0D2240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1" name="Text 9"/>
          <p:cNvSpPr/>
          <p:nvPr/>
        </p:nvSpPr>
        <p:spPr>
          <a:xfrm>
            <a:off x="685800" y="2459736"/>
            <a:ext cx="7680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1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37 IEEE 829 test cases passed, including resilience, scalability, security, and interoperability requirements.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163824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0D2240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3" name="Text 11"/>
          <p:cNvSpPr/>
          <p:nvPr/>
        </p:nvSpPr>
        <p:spPr>
          <a:xfrm>
            <a:off x="685800" y="3264408"/>
            <a:ext cx="7680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1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STIX 2.1 export capability proves operational viability — AutoMITRE outputs are directly consumable by enterprise SIEMs.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968496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0D2240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5" name="Text 13"/>
          <p:cNvSpPr/>
          <p:nvPr/>
        </p:nvSpPr>
        <p:spPr>
          <a:xfrm>
            <a:off x="685800" y="4069080"/>
            <a:ext cx="7680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r>
              <a:rPr lang="en-US" sz="11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bridges the critical gap between static, design-phase threat modeling and dynamic, AI-enhanced SOC intelligence.</a:t>
            </a:r>
            <a:endParaRPr lang="en-US" sz="11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– Roadmap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8229600" cy="2743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822960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7" name="Shape 5"/>
          <p:cNvSpPr/>
          <p:nvPr/>
        </p:nvSpPr>
        <p:spPr>
          <a:xfrm>
            <a:off x="521208" y="932688"/>
            <a:ext cx="420624" cy="420624"/>
          </a:xfrm>
          <a:prstGeom prst="ellipse">
            <a:avLst/>
          </a:prstGeom>
          <a:solidFill>
            <a:srgbClr val="0D2240"/>
          </a:solidFill>
          <a:ln w="1905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8" name="Text 6"/>
          <p:cNvSpPr/>
          <p:nvPr/>
        </p:nvSpPr>
        <p:spPr>
          <a:xfrm>
            <a:off x="521208" y="9326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8412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Zero-Day Anomaly Clustering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78992" y="11887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DBSCAN / Isolation Forests for unsupervised detection of unknown attack patterns not in ATT&amp;CK signatures.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27632"/>
            <a:ext cx="822960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2" name="Shape 10"/>
          <p:cNvSpPr/>
          <p:nvPr/>
        </p:nvSpPr>
        <p:spPr>
          <a:xfrm>
            <a:off x="521208" y="1783080"/>
            <a:ext cx="420624" cy="420624"/>
          </a:xfrm>
          <a:prstGeom prst="ellipse">
            <a:avLst/>
          </a:prstGeom>
          <a:solidFill>
            <a:srgbClr val="0D2240"/>
          </a:solidFill>
          <a:ln w="1905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3" name="Text 11"/>
          <p:cNvSpPr/>
          <p:nvPr/>
        </p:nvSpPr>
        <p:spPr>
          <a:xfrm>
            <a:off x="521208" y="17830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78992" y="16916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Framework Support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78992" y="203911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vector database to CSA Cloud Controls Matrix, ISO 27001, GDPR — enabling direct compliance auditing capabilities.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478024"/>
            <a:ext cx="822960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17" name="Shape 15"/>
          <p:cNvSpPr/>
          <p:nvPr/>
        </p:nvSpPr>
        <p:spPr>
          <a:xfrm>
            <a:off x="521208" y="2633472"/>
            <a:ext cx="420624" cy="420624"/>
          </a:xfrm>
          <a:prstGeom prst="ellipse">
            <a:avLst/>
          </a:prstGeom>
          <a:solidFill>
            <a:srgbClr val="0D2240"/>
          </a:solidFill>
          <a:ln w="1905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8" name="Text 16"/>
          <p:cNvSpPr/>
          <p:nvPr/>
        </p:nvSpPr>
        <p:spPr>
          <a:xfrm>
            <a:off x="521208" y="26334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78992" y="25420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 Local Inference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78992" y="288950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EXL2/AWQ quantization schemas to match cloud inference speeds on-device — eliminating Groq API dependency.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328416"/>
            <a:ext cx="822960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2" name="Shape 20"/>
          <p:cNvSpPr/>
          <p:nvPr/>
        </p:nvSpPr>
        <p:spPr>
          <a:xfrm>
            <a:off x="521208" y="3483864"/>
            <a:ext cx="420624" cy="420624"/>
          </a:xfrm>
          <a:prstGeom prst="ellipse">
            <a:avLst/>
          </a:prstGeom>
          <a:solidFill>
            <a:srgbClr val="0D2240"/>
          </a:solidFill>
          <a:ln w="1905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3" name="Text 21"/>
          <p:cNvSpPr/>
          <p:nvPr/>
        </p:nvSpPr>
        <p:spPr>
          <a:xfrm>
            <a:off x="521208" y="34838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78992" y="339242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PCAP Processing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78992" y="373989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network packet parser to Apache Spark / Dask for real-time enterprise-scale data stream ingestion.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178808"/>
            <a:ext cx="822960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EG"/>
          </a:p>
        </p:txBody>
      </p:sp>
      <p:sp>
        <p:nvSpPr>
          <p:cNvPr id="27" name="Shape 25"/>
          <p:cNvSpPr/>
          <p:nvPr/>
        </p:nvSpPr>
        <p:spPr>
          <a:xfrm>
            <a:off x="521208" y="4334256"/>
            <a:ext cx="420624" cy="420624"/>
          </a:xfrm>
          <a:prstGeom prst="ellipse">
            <a:avLst/>
          </a:prstGeom>
          <a:solidFill>
            <a:srgbClr val="0D2240"/>
          </a:solidFill>
          <a:ln w="1905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8" name="Text 26"/>
          <p:cNvSpPr/>
          <p:nvPr/>
        </p:nvSpPr>
        <p:spPr>
          <a:xfrm>
            <a:off x="521208" y="433425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78992" y="424281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78992" y="459028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SQLite → PostgreSQL, add multi-tenant SaaS architecture, and conduct full-scale load testing.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45720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24028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1371600" y="2907792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welcome your questions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371600" y="3429000"/>
            <a:ext cx="6400800" cy="2743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8" name="Text 5"/>
          <p:cNvSpPr/>
          <p:nvPr/>
        </p:nvSpPr>
        <p:spPr>
          <a:xfrm>
            <a:off x="914400" y="354787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autoMITRE 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AI-Powered Threat Intelligence and Mitigation System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3931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by: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Ahmed Maher Moustafa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AASTMT – Smart Village, Cairo · 2025–2026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42976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Moustafa Ahmed Elsayed · Abd El-Rahman Mohammed · Hashem Abdo Hashem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Amin · Jana Wael · Jomana Mohsen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3886</Words>
  <Application>Microsoft Macintosh PowerPoint</Application>
  <PresentationFormat>On-screen Show (16:9)</PresentationFormat>
  <Paragraphs>595</Paragraphs>
  <Slides>40</Slides>
  <Notes>40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autoMITRE – AI-Powered Threat Intelligence and Mitigation System</dc:title>
  <dc:subject>PptxGenJS Presentation</dc:subject>
  <dc:creator>Moustafa Ahmed Elsayed et al.</dc:creator>
  <cp:lastModifiedBy>Moustafa Abdalla</cp:lastModifiedBy>
  <cp:revision>2</cp:revision>
  <dcterms:created xsi:type="dcterms:W3CDTF">2026-06-27T12:17:46Z</dcterms:created>
  <dcterms:modified xsi:type="dcterms:W3CDTF">2026-06-27T13:04:29Z</dcterms:modified>
</cp:coreProperties>
</file>